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1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2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7" r:id="rId3"/>
    <p:sldId id="257" r:id="rId4"/>
    <p:sldId id="282" r:id="rId5"/>
    <p:sldId id="283" r:id="rId6"/>
    <p:sldId id="276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3" r:id="rId18"/>
    <p:sldId id="274" r:id="rId19"/>
    <p:sldId id="275" r:id="rId20"/>
    <p:sldId id="278" r:id="rId21"/>
    <p:sldId id="281" r:id="rId22"/>
    <p:sldId id="28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1" autoAdjust="0"/>
    <p:restoredTop sz="94660" autoAdjust="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9:45:00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24575,'2'0'0,"4"0"0,2-2 0,0-1-8191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9:45:01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 24575,'-5'7'0,"-3"2"0,-4 0 0,2-2-8191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9:45:01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24575,'2'0'0,"1"-2"0,3-1 0,-1-3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9:45:05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9:45:07.3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9:45:07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9:45:13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24575,'2'0'0,"4"0"0,2 0 0,0-3 0,2-2 0,-2-1-8191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9:45:15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9:45:15.2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9:45:16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9:42:20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6631 1990 24513,'-2'78'0,"-6"0"0,-5-1 0,-4 1 0,-6-2 0,-5 1 0,-5-2 0,-5 0 0,-5-1 0,-4-2 0,-5 0 0,-5-2 0,-4-1 0,-5-2 0,-4-1 0,-5-2 0,-3-1 0,-5-3 0,-4-2 0,-3-1 0,-4-3 0,-3-3 0,-4-1 0,-2-3 0,-4-2 0,-3-3 0,-2-3 0,-3-2 0,-2-3 0,-2-2 0,-3-4 0,-1-2 0,-1-4 0,-2-2 0,-1-3 0,-2-4 0,0-2 0,0-3 0,-1-4 0,0-2 0,-1-4 0,2-2 0,-1-4 0,1-3 0,1-2 0,1-4 0,1-3 0,1-2 0,2-4 0,2-2 0,2-4 0,1-2 0,4-3 0,1-2 0,4-3 0,2-3 0,3-2 0,3-3 0,4-1 0,3-3 0,4-3 0,3-1 0,5-2 0,3-3 0,5-1 0,4-2 0,4-1 0,4-2 0,6-1 0,3-2 0,6 0 0,4-2 0,5-1 0,6 0 0,4-2 0,5 1 0,5-2 0,5 1 0,6-1 0,4 0 0,6-1 0,4 2 0,6-1 0,5 0 0,5 2 0,5-1 0,4 2 0,6 0 0,5 1 0,4 2 0,6 0 0,3 2 0,6 1 0,4 2 0,4 1 0,4 2 0,5 2 0,3 1 0,5 3 0,3 2 0,4 1 0,3 4 0,4 1 0,3 3 0,3 2 0,2 3 0,4 3 0,1 2 0,4 3 0,1 3 0,2 2 0,2 4 0,2 2 0,1 3 0,1 3 0,1 4 0,1 2 0,1 3 0,-1 4 0,2 2 0,-1 4 0,0 2 0,-1 4 0,0 3 0,0 2 0,-2 4 0,-1 3 0,-2 3 0,-1 2 0,-1 4 0,-3 2 0,-2 3 0,-2 3 0,-3 2 0,-2 3 0,-3 3 0,-4 2 0,-2 3 0,-4 1 0,-3 4 0,-4 1 0,-3 2 0,-4 3 0,-5 1 0,-3 2 0,-5 2 0,-4 1 0,-5 2 0,-4 1 0,-5 2 0,-5 0 0,-4 2 0,-5 1 0,-5 0 0,-5 2 0,-5-1 0,-6 2 0,-4 0 0,-5-1 0,-6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4:37:02.0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0 673 15399,'3062'-672'0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5:16:39.1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 1 8192,'-19'0'745,"5"-1"228,0 1-1,0 1 1,0 0 0,-25 6 0,36-6-866,0 0 0,0 0 0,0 0 0,0 0 0,0 1 0,0-1 0,1 1 0,-1 0 0,0 0 0,1 0 0,0 0 0,-1 0 0,1 0 0,0 1 0,0-1 0,0 1 0,0 0 0,1-1-1,-1 1 1,1 0 0,0 0 0,0 0 0,0 0 0,0 0 0,0 0 0,0 6 0,-2 29-2939,1 1-1,7 62 1,8 5 2832,-8-72 0,1-1 0,2 0 0,1 0 0,26 61 0,-4-8 0,40 85 0,-35-91 0,8 16 0,77 126 0,-11-57 0,-104-157 0,26 36 0,2-2 0,57 56 0,-58-66 0,-13-10 0,1-2 0,29 21 0,12-1 0,93 45 0,-109-62 0,28 11 0,144 43 0,-75-30 0,382 127 0,12-45 0,-525-126 0,434 77 0,4-20 0,374-20 0,-306-34 0,-57-1 0,-287-4 0,733-11 0,-4-76 0,-364-15 0,-8-47 0,-510 141 1274,0-1 0,0 0 1,-1-2-1,-1 0 0,1-2 0,-2 0 1,0-1-1,21-19 0,-29 23-1274,1 1 0,0-1 0,14-7 0,-15 10 0,0 0 0,0-1 0,-1 0 0,13-14 0,-19 17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5:16:42.6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97 198 8192,'4'-4'806,"1"2"0,0-1 1,1 0-1,-1 1 0,0 0 0,0 0 1,1 1-1,0 0 0,8-2 0,-1 1 409,143-27 436,-48 11-1111,9 0-1530,129-1 0,-141 12 174,611-25-6895,-510 25 6750,919-26 961,-356 24 0,-303 40 0,-126-4 0,487-3 0,0-25 0,-302-1 0,-471 2 0,480 21 0,-485-15 286,188 26 5892,-173-20-3733,104 34 0,53 42-2947,-181-69-1770,-1 3 0,-1 1 0,47 36 0,-46-25 1390,62 68 0,-83-82 2156,-1 2 0,-1 0 1,-1 0-1,-1 2 0,0 0 0,-2 0 1,-1 1-1,10 36 0,-18-52-1274,-1 1 0,0-1 0,-1 0 0,0 1 0,-1-1 0,0 0 0,0 1 0,-1-1 0,0 0 0,-1 1 0,0-1 0,0 0 0,-1 0 0,0 0 0,0 0 0,-1-1 0,-1 0 0,1 1 0,-1-1 0,-1-1 0,1 1 0,-1-1 0,-1 0 0,1 0 0,-12 8 0,-4 0 0,0-2 0,0 0 0,-35 13 0,-6 4 0,17-10 0,-1-1 0,-75 19 0,53-18 0,-355 105 0,-299 63-11091,592-163 10808,-555 96 189,-487-8 94,935-95 0,-502 10 0,692-27 0,-161 2 0,-145 3 0,-316 0 0,419-7 0,4-18 0,67 2 0,-782 1 0,789 16 0,35-7 5589,-5 0 290,90 5-5879,-1-3 0,-72-15 0,95 14 0,-23-2 0,-82-3 0,114 10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4:37:47.9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 8192,'0'-2'11468,"0"-2"-11468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4:37:48.0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32 6 8192,'-16'0'8819,"7"-2"-6170,2-1-2649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4:37:49.0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4:37:55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4:41:20.6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4:41:25.4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21 8192,'-8'-5'11468,"3"0"-11468,-3-1 0,1 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4:53:08.4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14163,'3012'1716'0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5:17:13.7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985 317 8192,'-33'-6'8714,"1"-1"-5960,-153 6-11342,96 2 5708,72-1 2880,0 1 0,-1 0 0,1 1 0,0 1 0,1 0 0,-1 2 0,-22 8 0,23-4 0,0 1 0,0 0 0,-19 18 0,-16 10 0,11-9 0,-49 46 0,30-23 0,43-38 38,1 1 0,0 1 0,2 0 0,0 1 0,0 1 0,2-1 0,0 2 0,1 0 0,1 0 0,1 1 0,1 0 0,0 0 0,-5 31 0,8-18-180,2-1 0,4 55 1,-1-26 34,0-50 281,0 0 0,1 0 0,0 0 0,0 0 0,9 20 0,26 50 12,-32-70-502,118 210-598,-105-190 914,2-1 0,1 0 0,1-1 0,29 29 0,-15-21 0,16 14 0,-35-36 0,5 3 0,1 0 0,1-1 0,31 17 0,-25-18 1145,95 43 9178,-36-23-10323,-44-16 0,0-3 0,48 12 0,37 11-5731,-1 0-6,-103-34 5737,137 37 0,-143-37 0,0-2 0,1 0 0,38 2 0,8 1 0,177 42 0,-167-33 0,0-2 0,133 5 0,-19-2 0,-1 5 0,175 25 0,-62-21 2122,0-26 2114,-143-1-2231,-35 7 640,-15 1-2185,521-6-9057,-325-2 5726,-224-2 2871,96-14 0,82-28 0,-151 25 0,3-3 0,144-51 0,103-58 0,-313 114 0,5-4 0,48-30 0,9-3 0,213-106 0,-276 135 0,76-60 0,-98 69 0,62-38 3136,-61 41-1540,-1-1 0,0 0 0,-2-2 0,31-30-1,-48 42-1558,0 0-1,-1 0 1,1-1-1,-1 0 1,-1 1-1,1-1 1,-1-1-1,0 1 1,0 0-1,-1 0 1,2-11-1,-1-9-73,-1-40-1,-1 46 28,0-16 10,1 13 0,-1 1 0,-1-1 0,-1 1 0,-1 0 0,-1 0 0,-8-29 0,7 38 0,0 0 0,0 0 0,-1 0 0,-1 0 0,0 1 0,-16-21 0,-17-15 0,-23-28 0,9 16 5,24 25-480,-58-51 1,38 45-2367,-88-53 0,103 73 1631,-1 3-1,-1 1 0,-66-21 1,15 11 1210,-17-6 0,0 5 0,-125-17 0,-94-5 0,64 8 0,-148-23 0,267 42 0,-576-55 0,443 70 0,-39-2 0,-444-8-4,503 20 567,-551-2 10346,774 2-10909,2 1 0,-1 1 0,0 1 0,1 2 0,0 1 0,0 2 0,-29 13 0,-185 82-4387,229-97 4875,0 0 0,0 1 0,0 1 0,1 0 0,-14 13 0,-11 9 971,-35 30-5545,-39 28-3296,108-87 7880,0 0 1,-1 0 0,1 1-1,1-1 1,-1 1 0,0 0-1,1 0 1,0 0-1,0 1 1,0-1 0,0 1-1,1-1 1,0 1 0,0 0-1,0 0 1,1 0-1,-1 0 1,1 1 0,0-1-1,1 0 1,-1 0 0,2 10-1,-1 2-498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14:53:57.5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0BFC70-E836-4F35-8324-59D8A6649BF2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9CFC4-72CC-4AF1-8517-9EA300A33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68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2670-2875-681F-86FF-0DCCE8945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CF1FD-A120-8204-877C-6EF6954CF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69BE9-4FB1-093E-92A7-18DB363F3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FA658-436F-BC32-A1B3-D3C63BF28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9CFC4-72CC-4AF1-8517-9EA300A3328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60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B566E-B460-A8D2-64B5-87EB04A1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448F9-8C25-42BF-A4BD-29297187F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F39EE-9198-447B-A68F-BDA8D6674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0FE5C-C818-2A95-8F86-46406DFAE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9CFC4-72CC-4AF1-8517-9EA300A3328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31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9CFC4-72CC-4AF1-8517-9EA300A3328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1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9CFC4-72CC-4AF1-8517-9EA300A3328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93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E996-198D-1F76-25AB-1284B75D8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20899-756D-0693-5418-6B4226095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9C105-E536-822C-6A1C-E55018C9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4016-B374-464C-B9B7-5AE471AFE4C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5B9DD-D0DC-FB7E-E8BE-CC19512D5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9272D-38BE-F555-5DDE-89AD5337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871B-AE36-4809-8779-C89D17C3A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94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FE4F-D658-FBA8-DAC6-4D98E854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7157B-410C-9EDE-95A0-24D24865A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2747F-88DF-F59F-9E70-8FA517D2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4016-B374-464C-B9B7-5AE471AFE4C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01058-8F57-E56F-855B-49AA6C51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34FF3-406D-A150-AAC5-3CA42D5C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871B-AE36-4809-8779-C89D17C3A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2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AC1FC-1BBB-0A0E-8BCB-4C9981EC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F9ADD-D0CB-CD9C-7E56-CB9C8041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98A5-AC6C-307C-7EDC-98B88D28B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4016-B374-464C-B9B7-5AE471AFE4C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20F4B-EABE-272C-2CBC-905604DF9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817A6-E012-B9E4-8272-DF55D429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871B-AE36-4809-8779-C89D17C3A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1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15AC-4506-02A8-F707-8F813B98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C16A7-E5BE-5041-329E-B86164DBC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AC769-4083-25E9-3557-892B662BB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ED25A-58A3-C29D-9FE5-27617435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4016-B374-464C-B9B7-5AE471AFE4C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BA33C-8A96-B19D-E8D1-A3212AE6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747F0-ED6F-9BFF-A9AF-9F8E0EDA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871B-AE36-4809-8779-C89D17C3A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73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B8B31-8821-1843-BD05-0B9E7A42C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AD661-7E8C-F57A-B315-A5B587F5D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0C5E2-EB80-A8FF-C775-4B2C48693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A4369-0001-7A79-3033-2265B125F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47DDB-AE44-48BD-6B6D-DB2AB46A5A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BD683-8C36-D10E-91E3-5074D5BD6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4016-B374-464C-B9B7-5AE471AFE4C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566610-EDBA-60B7-F335-C88F49F30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04DB5-E3E1-E8EF-3865-50BE52DE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871B-AE36-4809-8779-C89D17C3A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63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2BCAA-EFB8-4DC5-08AF-2982A98B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034C4-F0B7-FEA9-67F3-7D2E7166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4016-B374-464C-B9B7-5AE471AFE4C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766D2-646A-E181-55A9-524CBD292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228DB-DEFB-ECDD-6990-F6085F15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871B-AE36-4809-8779-C89D17C3A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47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5BD68-63F6-6A6C-11A6-22C521AEB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4016-B374-464C-B9B7-5AE471AFE4C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620179-7B3E-082D-0E8E-21151B7B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39042-4041-970E-473B-9DD58CA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871B-AE36-4809-8779-C89D17C3A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05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6D0D5-C60D-8D95-F8CC-0ED920AD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7EA75-D4D9-3EED-186F-042E51EFC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2A6AF-375B-0EFD-2BE4-3FBBAC87B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6578F-C9A6-D04B-F577-CFE4E69F2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4016-B374-464C-B9B7-5AE471AFE4C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74043-DF56-6C07-02CD-E887AC9E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2AC9B-874D-06FF-1356-130D514B2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871B-AE36-4809-8779-C89D17C3A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27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A387-18CD-E8ED-CB7A-84FBE97B8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50B3E2-832A-0286-9399-75B7273E87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01263-1BFB-9C75-C761-EFBC3FDD3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E0380-0CBF-4E8F-A6BD-97BA8A7F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4016-B374-464C-B9B7-5AE471AFE4C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4C943-CF14-725D-4F02-A2B2C992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42F55-2B54-D9A1-4592-9363FC69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871B-AE36-4809-8779-C89D17C3A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55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DC43C-323A-B918-BB16-4DB407FF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FBD09-CA8F-664B-E1CD-78B438847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C585D-E993-890B-37C4-1FA4949B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4016-B374-464C-B9B7-5AE471AFE4C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2D770-8DA4-AE56-A522-F1C71B31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97ACC-5595-5841-7B89-E454329B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871B-AE36-4809-8779-C89D17C3A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66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6222F6-FBD9-C2EB-13C7-892BB2A5E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41F5A-EABD-0F4D-45DE-782C98F7A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B36DB-B49F-BBD8-F4AE-ACFF1F2CE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34016-B374-464C-B9B7-5AE471AFE4C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7892B-0E95-041B-953B-FE378FB20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5D557-041D-5876-75B9-129166D9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871B-AE36-4809-8779-C89D17C3A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73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D82F9-5273-CBE0-AC7C-006966F8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8745F-81C6-E703-1FE2-15A367D27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AFB54-1137-5916-AC0B-A7F9E9BF5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34016-B374-464C-B9B7-5AE471AFE4C3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295F2-2391-DF67-3F55-B547DBC16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C6892-3D88-51EA-CF80-993DF8610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A871B-AE36-4809-8779-C89D17C3A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7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6.xml"/><Relationship Id="rId17" Type="http://schemas.openxmlformats.org/officeDocument/2006/relationships/customXml" Target="../ink/ink10.xml"/><Relationship Id="rId2" Type="http://schemas.openxmlformats.org/officeDocument/2006/relationships/hyperlink" Target="https://currents.soest.hawaii.edu/" TargetMode="External"/><Relationship Id="rId16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8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customXml" Target="../ink/ink12.xml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customXml" Target="../ink/ink14.xml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customXml" Target="../ink/ink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customXml" Target="../ink/ink20.xml"/><Relationship Id="rId18" Type="http://schemas.openxmlformats.org/officeDocument/2006/relationships/customXml" Target="../ink/ink21.xml"/><Relationship Id="rId3" Type="http://schemas.openxmlformats.org/officeDocument/2006/relationships/image" Target="../media/image20.png"/><Relationship Id="rId21" Type="http://schemas.openxmlformats.org/officeDocument/2006/relationships/image" Target="../media/image31.png"/><Relationship Id="rId7" Type="http://schemas.openxmlformats.org/officeDocument/2006/relationships/customXml" Target="../ink/ink16.xml"/><Relationship Id="rId12" Type="http://schemas.openxmlformats.org/officeDocument/2006/relationships/customXml" Target="../ink/ink19.xml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png"/><Relationship Id="rId20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customXml" Target="../ink/ink18.xml"/><Relationship Id="rId5" Type="http://schemas.openxmlformats.org/officeDocument/2006/relationships/customXml" Target="../ink/ink15.xml"/><Relationship Id="rId15" Type="http://schemas.openxmlformats.org/officeDocument/2006/relationships/image" Target="../media/image22.png"/><Relationship Id="rId10" Type="http://schemas.openxmlformats.org/officeDocument/2006/relationships/image" Target="../media/image26.png"/><Relationship Id="rId19" Type="http://schemas.openxmlformats.org/officeDocument/2006/relationships/image" Target="../media/image30.png"/><Relationship Id="rId4" Type="http://schemas.openxmlformats.org/officeDocument/2006/relationships/image" Target="../media/image21.png"/><Relationship Id="rId9" Type="http://schemas.openxmlformats.org/officeDocument/2006/relationships/customXml" Target="../ink/ink17.xml"/><Relationship Id="rId1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96678-37F5-58AF-9FB8-2ABFB1BCA9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Shipboard ADCPs	: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3B10E-FD7B-AF2C-2785-B1C1CA093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sz="3800" dirty="0"/>
              <a:t>Software tools to view velocity profiles</a:t>
            </a:r>
          </a:p>
          <a:p>
            <a:r>
              <a:rPr lang="en-US" sz="3800" dirty="0"/>
              <a:t>using calibration as example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36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ED2DE-9234-7F3B-5CC7-384475464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3525"/>
            <a:ext cx="10515600" cy="60515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Outline:	</a:t>
            </a:r>
          </a:p>
          <a:p>
            <a:pPr lvl="2">
              <a:buFontTx/>
              <a:buChar char="-"/>
            </a:pPr>
            <a:r>
              <a:rPr lang="en-US" sz="2800" dirty="0"/>
              <a:t>(briefly) introduce three ways </a:t>
            </a:r>
          </a:p>
          <a:p>
            <a:pPr marL="914400" lvl="2" indent="0">
              <a:buNone/>
            </a:pPr>
            <a:r>
              <a:rPr lang="en-US" sz="2800" dirty="0"/>
              <a:t>		to view ADCP data</a:t>
            </a:r>
          </a:p>
          <a:p>
            <a:pPr marL="914400" lvl="2" indent="0">
              <a:buNone/>
            </a:pPr>
            <a:endParaRPr lang="en-US" sz="2800" dirty="0"/>
          </a:p>
          <a:p>
            <a:pPr lvl="2">
              <a:buFontTx/>
              <a:buChar char="-"/>
            </a:pPr>
            <a:r>
              <a:rPr lang="en-US" sz="2800" dirty="0"/>
              <a:t>check out one with example data:  </a:t>
            </a:r>
          </a:p>
          <a:p>
            <a:pPr marL="2286000" lvl="5" indent="0">
              <a:buNone/>
            </a:pPr>
            <a:r>
              <a:rPr lang="en-US" sz="2600" dirty="0"/>
              <a:t>	“pretty”, </a:t>
            </a:r>
            <a:r>
              <a:rPr lang="en-US" sz="2600" dirty="0" err="1"/>
              <a:t>cal</a:t>
            </a:r>
            <a:r>
              <a:rPr lang="en-US" sz="2600" dirty="0"/>
              <a:t> idea, similar ADCP setup</a:t>
            </a:r>
          </a:p>
          <a:p>
            <a:pPr marL="2286000" lvl="5" indent="0">
              <a:buNone/>
            </a:pPr>
            <a:endParaRPr lang="en-US" sz="2600" dirty="0"/>
          </a:p>
          <a:p>
            <a:pPr lvl="2">
              <a:buFontTx/>
              <a:buChar char="-"/>
            </a:pPr>
            <a:r>
              <a:rPr lang="en-US" sz="2800" dirty="0"/>
              <a:t> summarize </a:t>
            </a:r>
            <a:r>
              <a:rPr lang="en-US" sz="2800" dirty="0" err="1"/>
              <a:t>cal</a:t>
            </a:r>
            <a:r>
              <a:rPr lang="en-US" sz="2800" dirty="0"/>
              <a:t> needs and approach</a:t>
            </a:r>
          </a:p>
          <a:p>
            <a:pPr lvl="2">
              <a:buFontTx/>
              <a:buChar char="-"/>
            </a:pPr>
            <a:endParaRPr lang="en-US" sz="2800" dirty="0"/>
          </a:p>
          <a:p>
            <a:pPr lvl="2">
              <a:buFontTx/>
              <a:buChar char="-"/>
            </a:pPr>
            <a:r>
              <a:rPr lang="en-US" sz="2800" dirty="0"/>
              <a:t> three methods to (check) calibration</a:t>
            </a:r>
          </a:p>
          <a:p>
            <a:pPr lvl="2">
              <a:buFontTx/>
              <a:buChar char="-"/>
            </a:pPr>
            <a:endParaRPr lang="en-US" sz="2800" dirty="0"/>
          </a:p>
          <a:p>
            <a:pPr lvl="2">
              <a:buFontTx/>
              <a:buChar char="-"/>
            </a:pPr>
            <a:r>
              <a:rPr lang="en-US" sz="2800" dirty="0"/>
              <a:t>quiz: identify these two </a:t>
            </a:r>
            <a:r>
              <a:rPr lang="en-US" sz="2800" dirty="0" err="1"/>
              <a:t>cal</a:t>
            </a:r>
            <a:r>
              <a:rPr lang="en-US" sz="2800" dirty="0"/>
              <a:t> issues 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8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5908B-70E1-DBDF-DF0A-E0A066728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213"/>
          </a:xfrm>
        </p:spPr>
        <p:txBody>
          <a:bodyPr>
            <a:normAutofit fontScale="90000"/>
          </a:bodyPr>
          <a:lstStyle/>
          <a:p>
            <a:r>
              <a:rPr lang="en-US" dirty="0"/>
              <a:t>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8C278-BFCC-A9EE-A49D-7ED4F847A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2509838"/>
            <a:ext cx="10515600" cy="2433638"/>
          </a:xfrm>
        </p:spPr>
        <p:txBody>
          <a:bodyPr/>
          <a:lstStyle/>
          <a:p>
            <a:r>
              <a:rPr lang="en-US" dirty="0"/>
              <a:t>Three tools for Pinnacle:</a:t>
            </a:r>
          </a:p>
          <a:p>
            <a:pPr marL="0" indent="0">
              <a:buNone/>
            </a:pPr>
            <a:r>
              <a:rPr lang="en-US" dirty="0"/>
              <a:t>			- VMDAS (TRDI’s acquisition software)</a:t>
            </a:r>
          </a:p>
          <a:p>
            <a:pPr marL="0" indent="0">
              <a:buNone/>
            </a:pPr>
            <a:r>
              <a:rPr lang="en-US" dirty="0"/>
              <a:t>			- </a:t>
            </a:r>
            <a:r>
              <a:rPr lang="en-US" dirty="0" err="1"/>
              <a:t>WinADCP</a:t>
            </a:r>
            <a:r>
              <a:rPr lang="en-US" dirty="0"/>
              <a:t> (TRDI “</a:t>
            </a:r>
            <a:r>
              <a:rPr lang="en-US" dirty="0" err="1"/>
              <a:t>userexit</a:t>
            </a:r>
            <a:r>
              <a:rPr lang="en-US" dirty="0"/>
              <a:t>” program)</a:t>
            </a:r>
          </a:p>
          <a:p>
            <a:pPr marL="0" indent="0">
              <a:buNone/>
            </a:pPr>
            <a:r>
              <a:rPr lang="en-US" dirty="0"/>
              <a:t>			- CODAS (U. Hawaii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2743200" lvl="6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6D6C58-AE4A-A752-B6A0-108FAFB92978}"/>
              </a:ext>
            </a:extLst>
          </p:cNvPr>
          <p:cNvSpPr txBox="1">
            <a:spLocks/>
          </p:cNvSpPr>
          <p:nvPr/>
        </p:nvSpPr>
        <p:spPr>
          <a:xfrm>
            <a:off x="1276350" y="842963"/>
            <a:ext cx="10515600" cy="1071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Two ADCPs: 	- TRDI Pinnacle 45kHz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	- </a:t>
            </a:r>
            <a:r>
              <a:rPr lang="en-US" dirty="0" err="1"/>
              <a:t>Simrad</a:t>
            </a:r>
            <a:r>
              <a:rPr lang="en-US" dirty="0"/>
              <a:t> EC150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2743200" lvl="6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382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F36159-9CAB-8B57-6970-F56D7375B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1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3E5FB-E784-BA52-0C2A-B1F829DE1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63" y="0"/>
            <a:ext cx="11653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18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45C9D-E8C7-FE72-4A53-1B4B292E6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842F7-90D0-6F8E-CE37-313B13C7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213"/>
          </a:xfrm>
        </p:spPr>
        <p:txBody>
          <a:bodyPr>
            <a:normAutofit fontScale="90000"/>
          </a:bodyPr>
          <a:lstStyle/>
          <a:p>
            <a:r>
              <a:rPr lang="en-US" dirty="0"/>
              <a:t>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98E72-0313-1CCB-EA81-89CD08429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2509838"/>
            <a:ext cx="10515600" cy="2433638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Three tools for Pinnacle: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- VMDAS (TRDI’s acquisition software)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	-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WinADCP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(TRDI “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userexit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” program)</a:t>
            </a:r>
          </a:p>
          <a:p>
            <a:pPr marL="0" indent="0">
              <a:buNone/>
            </a:pPr>
            <a:r>
              <a:rPr lang="en-US" dirty="0"/>
              <a:t>			- CODAS (U. Hawaii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2743200" lvl="6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67E4FD-7098-15E3-0DBF-5DA8A10F7C66}"/>
              </a:ext>
            </a:extLst>
          </p:cNvPr>
          <p:cNvSpPr txBox="1">
            <a:spLocks/>
          </p:cNvSpPr>
          <p:nvPr/>
        </p:nvSpPr>
        <p:spPr>
          <a:xfrm>
            <a:off x="1276350" y="842963"/>
            <a:ext cx="10515600" cy="1071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Two ADCPs: </a:t>
            </a:r>
            <a:r>
              <a:rPr lang="en-US" dirty="0"/>
              <a:t>	- TRDI Pinnacle 45kHz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	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Simrad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EC150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2743200" lvl="6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349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6F05-8352-C7A3-5C8A-AD30CDF1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CODAS: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6221D-986F-DF1A-926F-EC44A2DA5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658" y="133237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 - from University of Hawaii: 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>
                <a:hlinkClick r:id="rId2"/>
              </a:rPr>
              <a:t>https://currents.soest.hawaii.edu</a:t>
            </a:r>
            <a:endParaRPr lang="en-US" dirty="0"/>
          </a:p>
          <a:p>
            <a:endParaRPr lang="en-US" dirty="0"/>
          </a:p>
          <a:p>
            <a:r>
              <a:rPr lang="en-US" dirty="0"/>
              <a:t>- native for </a:t>
            </a:r>
            <a:r>
              <a:rPr lang="en-US" dirty="0" err="1"/>
              <a:t>linux</a:t>
            </a:r>
            <a:r>
              <a:rPr lang="en-US" dirty="0"/>
              <a:t> and Mac </a:t>
            </a:r>
          </a:p>
          <a:p>
            <a:pPr marL="0" indent="0">
              <a:buNone/>
            </a:pPr>
            <a:r>
              <a:rPr lang="en-US" dirty="0"/>
              <a:t>	via </a:t>
            </a:r>
            <a:r>
              <a:rPr lang="en-US" dirty="0" err="1"/>
              <a:t>conda</a:t>
            </a:r>
            <a:r>
              <a:rPr lang="en-US" dirty="0"/>
              <a:t> package manager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- Windows and Mac:</a:t>
            </a:r>
          </a:p>
          <a:p>
            <a:pPr marL="0" indent="0">
              <a:buNone/>
            </a:pPr>
            <a:r>
              <a:rPr lang="en-US" dirty="0"/>
              <a:t>	 VirtualBox plus .ova =&gt; </a:t>
            </a:r>
            <a:r>
              <a:rPr lang="en-US" dirty="0" err="1"/>
              <a:t>linux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2DE8E9A-E7C5-999A-4510-29AE1106DDB8}"/>
                  </a:ext>
                </a:extLst>
              </p14:cNvPr>
              <p14:cNvContentPartPr/>
              <p14:nvPr/>
            </p14:nvContentPartPr>
            <p14:xfrm>
              <a:off x="9415547" y="1332379"/>
              <a:ext cx="9360" cy="2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2DE8E9A-E7C5-999A-4510-29AE1106DD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09427" y="1326259"/>
                <a:ext cx="2160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2AB50CA0-8FAA-2825-F283-1F521B73B985}"/>
              </a:ext>
            </a:extLst>
          </p:cNvPr>
          <p:cNvGrpSpPr/>
          <p:nvPr/>
        </p:nvGrpSpPr>
        <p:grpSpPr>
          <a:xfrm>
            <a:off x="6835427" y="2288179"/>
            <a:ext cx="34920" cy="15480"/>
            <a:chOff x="6835427" y="2288179"/>
            <a:chExt cx="34920" cy="1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879C9C9-72C1-CCA4-2B25-F31F50F0EE61}"/>
                    </a:ext>
                  </a:extLst>
                </p14:cNvPr>
                <p14:cNvContentPartPr/>
                <p14:nvPr/>
              </p14:nvContentPartPr>
              <p14:xfrm>
                <a:off x="6857387" y="2288179"/>
                <a:ext cx="12960" cy="11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879C9C9-72C1-CCA4-2B25-F31F50F0EE6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51267" y="2282059"/>
                  <a:ext cx="25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1BC0D12-8428-0F4B-D6FE-20EBFEEDD3C8}"/>
                    </a:ext>
                  </a:extLst>
                </p14:cNvPr>
                <p14:cNvContentPartPr/>
                <p14:nvPr/>
              </p14:nvContentPartPr>
              <p14:xfrm>
                <a:off x="6835427" y="2299339"/>
                <a:ext cx="6120" cy="4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1BC0D12-8428-0F4B-D6FE-20EBFEEDD3C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29307" y="2293219"/>
                  <a:ext cx="18360" cy="1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3406B5-C2D3-8074-06CD-50165FB72CFB}"/>
                  </a:ext>
                </a:extLst>
              </p14:cNvPr>
              <p14:cNvContentPartPr/>
              <p14:nvPr/>
            </p14:nvContentPartPr>
            <p14:xfrm>
              <a:off x="1561787" y="2050939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3406B5-C2D3-8074-06CD-50165FB72CF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55667" y="2044819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A9BECA3-1860-A1D4-89F8-F494A1849909}"/>
              </a:ext>
            </a:extLst>
          </p:cNvPr>
          <p:cNvGrpSpPr/>
          <p:nvPr/>
        </p:nvGrpSpPr>
        <p:grpSpPr>
          <a:xfrm>
            <a:off x="1744667" y="1912699"/>
            <a:ext cx="360" cy="360"/>
            <a:chOff x="1744667" y="1912699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B0CC723-897A-F094-AE89-8260D543084B}"/>
                    </a:ext>
                  </a:extLst>
                </p14:cNvPr>
                <p14:cNvContentPartPr/>
                <p14:nvPr/>
              </p14:nvContentPartPr>
              <p14:xfrm>
                <a:off x="1744667" y="1912699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B0CC723-897A-F094-AE89-8260D543084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38547" y="190657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D60C558-6D7D-7880-89EC-9102CC00A59C}"/>
                    </a:ext>
                  </a:extLst>
                </p14:cNvPr>
                <p14:cNvContentPartPr/>
                <p14:nvPr/>
              </p14:nvContentPartPr>
              <p14:xfrm>
                <a:off x="1744667" y="1912699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D60C558-6D7D-7880-89EC-9102CC00A59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38547" y="190657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D03CFE0-FA91-6895-7038-E6BA3ABDD804}"/>
                  </a:ext>
                </a:extLst>
              </p14:cNvPr>
              <p14:cNvContentPartPr/>
              <p14:nvPr/>
            </p14:nvContentPartPr>
            <p14:xfrm>
              <a:off x="2174507" y="2802162"/>
              <a:ext cx="15480" cy="5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D03CFE0-FA91-6895-7038-E6BA3ABDD80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68387" y="2796042"/>
                <a:ext cx="2772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0FC0E11A-91D9-EE30-5FE6-910F20F4CA6C}"/>
              </a:ext>
            </a:extLst>
          </p:cNvPr>
          <p:cNvGrpSpPr/>
          <p:nvPr/>
        </p:nvGrpSpPr>
        <p:grpSpPr>
          <a:xfrm>
            <a:off x="5792507" y="2708562"/>
            <a:ext cx="360" cy="360"/>
            <a:chOff x="5792507" y="2708562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041A35A-E622-BC51-A64E-A6AF650B6ED4}"/>
                    </a:ext>
                  </a:extLst>
                </p14:cNvPr>
                <p14:cNvContentPartPr/>
                <p14:nvPr/>
              </p14:nvContentPartPr>
              <p14:xfrm>
                <a:off x="5792507" y="2708562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041A35A-E622-BC51-A64E-A6AF650B6ED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86387" y="270244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80C0F18-BE58-3A4C-CBCD-3382933DC2EA}"/>
                    </a:ext>
                  </a:extLst>
                </p14:cNvPr>
                <p14:cNvContentPartPr/>
                <p14:nvPr/>
              </p14:nvContentPartPr>
              <p14:xfrm>
                <a:off x="5792507" y="2708562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80C0F18-BE58-3A4C-CBCD-3382933DC2E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86387" y="270244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8B9DDBF-C958-686E-1FE9-A89A16F359DE}"/>
                  </a:ext>
                </a:extLst>
              </p14:cNvPr>
              <p14:cNvContentPartPr/>
              <p14:nvPr/>
            </p14:nvContentPartPr>
            <p14:xfrm>
              <a:off x="2154707" y="190756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8B9DDBF-C958-686E-1FE9-A89A16F359D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48587" y="1901442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0220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75117-C28F-0A67-BDD3-F83896D70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8" y="592138"/>
            <a:ext cx="10515600" cy="58229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“words”:  CODAS vs. UHDAS	</a:t>
            </a:r>
          </a:p>
          <a:p>
            <a:pPr marL="0" indent="0">
              <a:buNone/>
            </a:pPr>
            <a:r>
              <a:rPr lang="en-US" dirty="0"/>
              <a:t>   	- in short: </a:t>
            </a:r>
          </a:p>
          <a:p>
            <a:pPr marL="0" indent="0">
              <a:buNone/>
            </a:pPr>
            <a:r>
              <a:rPr lang="en-US" dirty="0"/>
              <a:t>       UHDAS = data acquisition + CODAS 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CC8AA-F557-7537-0A8C-28448451A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0350"/>
            <a:ext cx="8844547" cy="437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73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3FC721-EC99-3E92-A5CF-B2C98478B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094" y="0"/>
            <a:ext cx="69758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887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39AA6-F1CE-9228-7DF6-EA69A70B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321CF3-D60D-E719-BBAC-AB936523F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094" y="0"/>
            <a:ext cx="6975811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C2DB550-EE01-9C6F-A3B3-B633AEC5AE47}"/>
                  </a:ext>
                </a:extLst>
              </p14:cNvPr>
              <p14:cNvContentPartPr/>
              <p14:nvPr/>
            </p14:nvContentPartPr>
            <p14:xfrm>
              <a:off x="7298335" y="3082669"/>
              <a:ext cx="2387520" cy="1432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C2DB550-EE01-9C6F-A3B3-B633AEC5AE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92215" y="3076549"/>
                <a:ext cx="2399760" cy="144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0631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D0966-6031-500A-DA75-075D4033C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407"/>
            <a:ext cx="10515600" cy="5969018"/>
          </a:xfrm>
        </p:spPr>
        <p:txBody>
          <a:bodyPr/>
          <a:lstStyle/>
          <a:p>
            <a:r>
              <a:rPr lang="en-US" dirty="0"/>
              <a:t>Examples: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-  AR72a    96.65 0.6  pretty Gulf Stream meander</a:t>
            </a:r>
          </a:p>
          <a:p>
            <a:pPr marL="0" indent="0">
              <a:buNone/>
            </a:pPr>
            <a:r>
              <a:rPr lang="pt-BR" sz="1200" dirty="0"/>
              <a:t>		/media/sf_codas_shared/ar72a/adcp/proc/os38nb</a:t>
            </a:r>
            <a:endParaRPr lang="en-US" sz="1200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   AR45_1  182.9  0.6  reciprocal current off W Greenland; relevant 		for calibration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    JS2542  246.1 0.6  bins 70 75  deep overflow; </a:t>
            </a:r>
          </a:p>
          <a:p>
            <a:pPr marL="0" indent="0">
              <a:buNone/>
            </a:pPr>
            <a:r>
              <a:rPr lang="en-US" dirty="0"/>
              <a:t>		similar setup but OS75nb</a:t>
            </a:r>
          </a:p>
          <a:p>
            <a:pPr marL="0" indent="0">
              <a:buNone/>
            </a:pPr>
            <a:r>
              <a:rPr lang="en-US" sz="1200" dirty="0"/>
              <a:t>		/media/</a:t>
            </a:r>
            <a:r>
              <a:rPr lang="en-US" sz="1200" dirty="0" err="1"/>
              <a:t>sf_adcp_b</a:t>
            </a:r>
            <a:r>
              <a:rPr lang="en-US" sz="1200" dirty="0"/>
              <a:t>/</a:t>
            </a:r>
            <a:r>
              <a:rPr lang="en-US" sz="1200" dirty="0" err="1"/>
              <a:t>codas_shared</a:t>
            </a:r>
            <a:r>
              <a:rPr lang="en-US" sz="1200" dirty="0"/>
              <a:t>/</a:t>
            </a:r>
            <a:r>
              <a:rPr lang="en-US" sz="1200" dirty="0" err="1"/>
              <a:t>all_faroe</a:t>
            </a:r>
            <a:r>
              <a:rPr lang="en-US" sz="1200" dirty="0"/>
              <a:t>/2025cruises/js2542/os75nb_ENR</a:t>
            </a:r>
          </a:p>
          <a:p>
            <a:pPr marL="0" indent="0">
              <a:buNone/>
            </a:pPr>
            <a:endParaRPr lang="en-US" dirty="0"/>
          </a:p>
          <a:p>
            <a:pPr marL="1371600" lvl="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05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D75B3-383F-AEA7-9CF4-1026405A8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36" y="367527"/>
            <a:ext cx="11459245" cy="62655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Back to calibrations: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Q: what to calibrate?    </a:t>
            </a:r>
          </a:p>
          <a:p>
            <a:pPr marL="457200" lvl="1" indent="0">
              <a:buNone/>
            </a:pPr>
            <a:r>
              <a:rPr lang="en-US" sz="2800" dirty="0"/>
              <a:t>                                      Take a look at the ADCP system: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7893A-CF30-CB42-9596-4A18B58FB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40" y="0"/>
            <a:ext cx="5754148" cy="480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561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6E950A-985A-FB51-FD6C-3C7A753C7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73" y="218688"/>
            <a:ext cx="3231543" cy="5561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BB4697-F8B5-E7FF-3664-3B090B7C4AB4}"/>
              </a:ext>
            </a:extLst>
          </p:cNvPr>
          <p:cNvSpPr txBox="1"/>
          <p:nvPr/>
        </p:nvSpPr>
        <p:spPr>
          <a:xfrm>
            <a:off x="3918065" y="3194793"/>
            <a:ext cx="804426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Calibrate:   </a:t>
            </a:r>
          </a:p>
          <a:p>
            <a:r>
              <a:rPr lang="en-US" sz="2400" dirty="0"/>
              <a:t>     - basic ADCP measurement: </a:t>
            </a:r>
          </a:p>
          <a:p>
            <a:r>
              <a:rPr lang="en-US" sz="2400" dirty="0"/>
              <a:t>        accurate along-beam speed:   </a:t>
            </a:r>
            <a:r>
              <a:rPr lang="en-US" sz="2400" dirty="0">
                <a:solidFill>
                  <a:srgbClr val="FF0000"/>
                </a:solidFill>
              </a:rPr>
              <a:t>=&gt; amplitude </a:t>
            </a:r>
          </a:p>
          <a:p>
            <a:endParaRPr lang="en-US" sz="2400" dirty="0"/>
          </a:p>
          <a:p>
            <a:r>
              <a:rPr lang="en-US" sz="2400" dirty="0"/>
              <a:t>- alignment: </a:t>
            </a:r>
          </a:p>
          <a:p>
            <a:r>
              <a:rPr lang="en-US" sz="2400" dirty="0"/>
              <a:t>        correct orientation of transducer/heading device              	combination                              </a:t>
            </a:r>
            <a:r>
              <a:rPr lang="en-US" sz="2400" dirty="0">
                <a:solidFill>
                  <a:srgbClr val="FF0000"/>
                </a:solidFill>
              </a:rPr>
              <a:t>=&gt; rotation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3CE7E9-2FCA-6E8C-3124-D8C049AF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216" y="257577"/>
            <a:ext cx="8812432" cy="275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11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E44BE3-3347-188E-64A6-70272A75F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002" y="2028796"/>
            <a:ext cx="5333559" cy="39986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1F041C-B845-CCB0-59C9-8D1D913C3C22}"/>
              </a:ext>
            </a:extLst>
          </p:cNvPr>
          <p:cNvSpPr txBox="1"/>
          <p:nvPr/>
        </p:nvSpPr>
        <p:spPr>
          <a:xfrm>
            <a:off x="2056132" y="1913533"/>
            <a:ext cx="97371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 degree rotation =&gt; error ~2% of ship speed</a:t>
            </a:r>
          </a:p>
          <a:p>
            <a:r>
              <a:rPr lang="en-US" sz="2800" dirty="0"/>
              <a:t>10 knots    =&gt;   ~ 10 cm/s  error per degree!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20F49-AA15-D1A9-3556-F17DC376CD25}"/>
              </a:ext>
            </a:extLst>
          </p:cNvPr>
          <p:cNvSpPr txBox="1"/>
          <p:nvPr/>
        </p:nvSpPr>
        <p:spPr>
          <a:xfrm>
            <a:off x="553582" y="6311832"/>
            <a:ext cx="1072072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10 knots for 5 min: 5 m/s * 300 s = 1500m; 1 degree error: 1500m*0.02 = 30m; ¼ ship length. 30m/300s = 10 cm/s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3280A5-0FAD-1626-9DEA-8E1F21BA4AEC}"/>
              </a:ext>
            </a:extLst>
          </p:cNvPr>
          <p:cNvSpPr txBox="1"/>
          <p:nvPr/>
        </p:nvSpPr>
        <p:spPr>
          <a:xfrm>
            <a:off x="420098" y="583239"/>
            <a:ext cx="70433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Problem:    ship velocity is large </a:t>
            </a:r>
          </a:p>
          <a:p>
            <a:r>
              <a:rPr lang="en-US" sz="2800" dirty="0"/>
              <a:t>                        compared to ocean velocity</a:t>
            </a:r>
          </a:p>
        </p:txBody>
      </p:sp>
    </p:spTree>
    <p:extLst>
      <p:ext uri="{BB962C8B-B14F-4D97-AF65-F5344CB8AC3E}">
        <p14:creationId xmlns:p14="http://schemas.microsoft.com/office/powerpoint/2010/main" val="1535768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EC9D40-09F1-2EB2-599A-C0FE56386AE6}"/>
              </a:ext>
            </a:extLst>
          </p:cNvPr>
          <p:cNvSpPr txBox="1"/>
          <p:nvPr/>
        </p:nvSpPr>
        <p:spPr>
          <a:xfrm>
            <a:off x="889686" y="286677"/>
            <a:ext cx="97667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 bottom track: </a:t>
            </a:r>
          </a:p>
          <a:p>
            <a:r>
              <a:rPr lang="en-US" sz="2800" dirty="0"/>
              <a:t>	compare GPS track to </a:t>
            </a:r>
          </a:p>
          <a:p>
            <a:r>
              <a:rPr lang="en-US" sz="2800" dirty="0"/>
              <a:t>	integrated (apparent) sea floor velocity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C3A524-11CD-0F65-84C9-3CE042E68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989" y="2012912"/>
            <a:ext cx="5333559" cy="3998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CD8439-FCE8-2A97-C4BC-35678D144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09" y="2012913"/>
            <a:ext cx="5333559" cy="39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39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4904D-FEEA-D643-D855-4053BA8B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649041-FAFD-D9AA-049F-354D2EC4E978}"/>
              </a:ext>
            </a:extLst>
          </p:cNvPr>
          <p:cNvSpPr txBox="1"/>
          <p:nvPr/>
        </p:nvSpPr>
        <p:spPr>
          <a:xfrm>
            <a:off x="889686" y="286677"/>
            <a:ext cx="976678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 water  track: </a:t>
            </a:r>
          </a:p>
          <a:p>
            <a:r>
              <a:rPr lang="en-US" sz="2800" dirty="0"/>
              <a:t>	compare ADCP velocity before </a:t>
            </a:r>
          </a:p>
          <a:p>
            <a:r>
              <a:rPr lang="en-US" sz="2800" dirty="0"/>
              <a:t>	and after ship velocity change </a:t>
            </a:r>
          </a:p>
          <a:p>
            <a:r>
              <a:rPr lang="en-US" sz="2800" dirty="0"/>
              <a:t>	(station arrival/departure, sharp course change)</a:t>
            </a:r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77506D-8873-C4E7-450D-B81B9D52E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40" y="2216616"/>
            <a:ext cx="5333559" cy="3998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B6C99C-A33E-D3E0-70F0-33E948B93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864" y="2216615"/>
            <a:ext cx="5333559" cy="39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13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407E-E013-0D51-2A5D-E3384BACB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542ABE-2347-3E80-F7DC-673404575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373" y="-243840"/>
            <a:ext cx="51435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DDCC68-BFFC-A1E7-73E8-FA131781C8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6510" y="-509848"/>
            <a:ext cx="7326178" cy="5835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4EDDA6-F5F2-2880-467A-1D1D6C171A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73" y="3627390"/>
            <a:ext cx="5874052" cy="33974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CA43AD-1404-9CE6-5D33-0E4D534C26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42" y="865112"/>
            <a:ext cx="5302523" cy="13335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17649C5-EB82-EB61-DBFC-3F8A2F9DFD7D}"/>
                  </a:ext>
                </a:extLst>
              </p14:cNvPr>
              <p14:cNvContentPartPr/>
              <p14:nvPr/>
            </p14:nvContentPartPr>
            <p14:xfrm>
              <a:off x="701737" y="1022711"/>
              <a:ext cx="1102320" cy="242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17649C5-EB82-EB61-DBFC-3F8A2F9DFD7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3737" y="1005071"/>
                <a:ext cx="113796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A4BC2E-B9D8-CED2-23F1-D09B24FCBA60}"/>
                  </a:ext>
                </a:extLst>
              </p14:cNvPr>
              <p14:cNvContentPartPr/>
              <p14:nvPr/>
            </p14:nvContentPartPr>
            <p14:xfrm>
              <a:off x="2340954" y="6216565"/>
              <a:ext cx="3105000" cy="905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A4BC2E-B9D8-CED2-23F1-D09B24FCBA6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22954" y="6198565"/>
                <a:ext cx="3140640" cy="9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C1B716D-B960-9003-6204-3C648E35F744}"/>
                  </a:ext>
                </a:extLst>
              </p14:cNvPr>
              <p14:cNvContentPartPr/>
              <p14:nvPr/>
            </p14:nvContentPartPr>
            <p14:xfrm>
              <a:off x="2369034" y="6164725"/>
              <a:ext cx="3067560" cy="665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C1B716D-B960-9003-6204-3C648E35F74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51394" y="6147085"/>
                <a:ext cx="3103200" cy="70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5925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5FDFF-2AFB-345C-E196-65DF6EB2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72A12A-868F-660C-66EE-065F17F64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797" y="-509847"/>
            <a:ext cx="7326178" cy="5835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4A0AD0-9504-76E7-05F3-7CD58A65AC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73" y="3627390"/>
            <a:ext cx="5874052" cy="339742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2F89743-481E-D99D-5176-6590B943F7D5}"/>
              </a:ext>
            </a:extLst>
          </p:cNvPr>
          <p:cNvGrpSpPr/>
          <p:nvPr/>
        </p:nvGrpSpPr>
        <p:grpSpPr>
          <a:xfrm>
            <a:off x="5687377" y="4752671"/>
            <a:ext cx="11880" cy="7200"/>
            <a:chOff x="5687377" y="4752671"/>
            <a:chExt cx="11880" cy="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7595D15-40AE-C5FC-E61F-FD370F7A94E0}"/>
                    </a:ext>
                  </a:extLst>
                </p14:cNvPr>
                <p14:cNvContentPartPr/>
                <p14:nvPr/>
              </p14:nvContentPartPr>
              <p14:xfrm>
                <a:off x="5698897" y="4757711"/>
                <a:ext cx="360" cy="2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7595D15-40AE-C5FC-E61F-FD370F7A94E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80897" y="4739711"/>
                  <a:ext cx="36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2911733-4A99-C5F5-7185-56C9441F7733}"/>
                    </a:ext>
                  </a:extLst>
                </p14:cNvPr>
                <p14:cNvContentPartPr/>
                <p14:nvPr/>
              </p14:nvContentPartPr>
              <p14:xfrm>
                <a:off x="5687377" y="4752671"/>
                <a:ext cx="11880" cy="2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2911733-4A99-C5F5-7185-56C9441F773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69377" y="4735031"/>
                  <a:ext cx="4752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5FD58C-73B4-F503-C5D1-D91C5BB0D7FA}"/>
                  </a:ext>
                </a:extLst>
              </p14:cNvPr>
              <p14:cNvContentPartPr/>
              <p14:nvPr/>
            </p14:nvContentPartPr>
            <p14:xfrm>
              <a:off x="4631137" y="381559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F5FD58C-73B4-F503-C5D1-D91C5BB0D7F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13137" y="379759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09B125-2848-68B5-1EE6-4274303E3B39}"/>
                  </a:ext>
                </a:extLst>
              </p14:cNvPr>
              <p14:cNvContentPartPr/>
              <p14:nvPr/>
            </p14:nvContentPartPr>
            <p14:xfrm>
              <a:off x="4241754" y="4515205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09B125-2848-68B5-1EE6-4274303E3B3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24114" y="44975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85C4CDA-5524-8BFB-35CA-1FFCB8B2B345}"/>
                  </a:ext>
                </a:extLst>
              </p14:cNvPr>
              <p14:cNvContentPartPr/>
              <p14:nvPr/>
            </p14:nvContentPartPr>
            <p14:xfrm>
              <a:off x="6721074" y="137132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85C4CDA-5524-8BFB-35CA-1FFCB8B2B3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03434" y="13536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60B3041-64BA-AA53-FF20-CBE53B4F6987}"/>
                  </a:ext>
                </a:extLst>
              </p14:cNvPr>
              <p14:cNvContentPartPr/>
              <p14:nvPr/>
            </p14:nvContentPartPr>
            <p14:xfrm>
              <a:off x="5094594" y="4823725"/>
              <a:ext cx="10080" cy="7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60B3041-64BA-AA53-FF20-CBE53B4F698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76594" y="4806085"/>
                <a:ext cx="45720" cy="432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E4711A1C-85C2-F148-F869-94B0728FF7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05" y="865112"/>
            <a:ext cx="5302523" cy="13335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2302C75-58E8-D7B6-E323-8A86D3CCB39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98" y="3618005"/>
            <a:ext cx="5855001" cy="42674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98E3880-120E-05E6-3D43-A0BC181911C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-84841"/>
            <a:ext cx="51435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8586190-2470-6D15-F811-41B8C200368F}"/>
                  </a:ext>
                </a:extLst>
              </p14:cNvPr>
              <p14:cNvContentPartPr/>
              <p14:nvPr/>
            </p14:nvContentPartPr>
            <p14:xfrm>
              <a:off x="777474" y="1310125"/>
              <a:ext cx="1084680" cy="6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8586190-2470-6D15-F811-41B8C200368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9474" y="1292125"/>
                <a:ext cx="1120320" cy="65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B40486-1D92-5F9D-709A-A732D75C2E18}"/>
                  </a:ext>
                </a:extLst>
              </p14:cNvPr>
              <p14:cNvContentPartPr/>
              <p14:nvPr/>
            </p14:nvContentPartPr>
            <p14:xfrm>
              <a:off x="1973754" y="6050965"/>
              <a:ext cx="2641320" cy="864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B40486-1D92-5F9D-709A-A732D75C2E1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55754" y="6033325"/>
                <a:ext cx="2676960" cy="89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6049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2A4F7-C18D-840A-C53B-D57E66F31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888" y="249238"/>
            <a:ext cx="11643591" cy="4751387"/>
          </a:xfrm>
        </p:spPr>
        <p:txBody>
          <a:bodyPr/>
          <a:lstStyle/>
          <a:p>
            <a:r>
              <a:rPr lang="en-US" dirty="0"/>
              <a:t>Quiz: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588C07D-06B5-6D32-6F47-ED3BFCCC9936}"/>
                  </a:ext>
                </a:extLst>
              </p14:cNvPr>
              <p14:cNvContentPartPr/>
              <p14:nvPr/>
            </p14:nvContentPartPr>
            <p14:xfrm>
              <a:off x="-721206" y="5278799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588C07D-06B5-6D32-6F47-ED3BFCCC99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39206" y="5261159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8F5D61B-E809-251A-17E9-653C6A48204E}"/>
              </a:ext>
            </a:extLst>
          </p:cNvPr>
          <p:cNvSpPr txBox="1"/>
          <p:nvPr/>
        </p:nvSpPr>
        <p:spPr>
          <a:xfrm>
            <a:off x="7450571" y="3040548"/>
            <a:ext cx="3976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T202609 Pinnacle data were modified to simulate misalignment and low amplitude, respectively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58D530-40EB-A8A8-5AD3-FC12C3991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832" y="561975"/>
            <a:ext cx="5834406" cy="51480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1347D8-D508-978D-9953-34AAD08D2AF7}"/>
              </a:ext>
            </a:extLst>
          </p:cNvPr>
          <p:cNvSpPr txBox="1"/>
          <p:nvPr/>
        </p:nvSpPr>
        <p:spPr>
          <a:xfrm>
            <a:off x="2624137" y="5313362"/>
            <a:ext cx="8420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quick_adcp.py --steps2rerun </a:t>
            </a:r>
            <a:r>
              <a:rPr lang="en-US" sz="1400" dirty="0" err="1"/>
              <a:t>rotate:navsteps:calib</a:t>
            </a:r>
            <a:r>
              <a:rPr lang="en-US" sz="1400" dirty="0"/>
              <a:t> --</a:t>
            </a:r>
            <a:r>
              <a:rPr lang="en-US" sz="1400" dirty="0" err="1"/>
              <a:t>rotateangle</a:t>
            </a:r>
            <a:r>
              <a:rPr lang="en-US" sz="1400" dirty="0"/>
              <a:t> -1  --auto</a:t>
            </a:r>
          </a:p>
          <a:p>
            <a:r>
              <a:rPr lang="en-US" sz="1400" dirty="0"/>
              <a:t>quick_adcp.py --steps2rerun </a:t>
            </a:r>
            <a:r>
              <a:rPr lang="en-US" sz="1400" dirty="0" err="1"/>
              <a:t>rotate:navsteps:calib</a:t>
            </a:r>
            <a:r>
              <a:rPr lang="en-US" sz="1400" dirty="0"/>
              <a:t> --</a:t>
            </a:r>
            <a:r>
              <a:rPr lang="en-US" sz="1400" dirty="0" err="1"/>
              <a:t>rotate_amplitude</a:t>
            </a:r>
            <a:r>
              <a:rPr lang="en-US" sz="1400" dirty="0"/>
              <a:t> 0.983  --auto</a:t>
            </a:r>
          </a:p>
        </p:txBody>
      </p:sp>
    </p:spTree>
    <p:extLst>
      <p:ext uri="{BB962C8B-B14F-4D97-AF65-F5344CB8AC3E}">
        <p14:creationId xmlns:p14="http://schemas.microsoft.com/office/powerpoint/2010/main" val="1403839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2741AB-5749-F278-8CAB-7082A6D2D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" y="229937"/>
            <a:ext cx="12243919" cy="637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38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C4096F-82ED-8675-AA96-963729D7C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079"/>
            <a:ext cx="12192000" cy="65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8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237922-22CB-234F-A8E4-41BCEFCF8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116"/>
            <a:ext cx="12192000" cy="661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61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2724</TotalTime>
  <Words>550</Words>
  <Application>Microsoft Office PowerPoint</Application>
  <PresentationFormat>Widescreen</PresentationFormat>
  <Paragraphs>94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Shipboard ADCPs : </vt:lpstr>
      <vt:lpstr>PowerPoint Presentation</vt:lpstr>
      <vt:lpstr>   </vt:lpstr>
      <vt:lpstr>PowerPoint Presentation</vt:lpstr>
      <vt:lpstr>PowerPoint Presentation</vt:lpstr>
      <vt:lpstr>   </vt:lpstr>
      <vt:lpstr>CODAS: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Bahr</dc:creator>
  <cp:lastModifiedBy>Frank Bahr</cp:lastModifiedBy>
  <cp:revision>31</cp:revision>
  <dcterms:created xsi:type="dcterms:W3CDTF">2026-09-18T07:59:22Z</dcterms:created>
  <dcterms:modified xsi:type="dcterms:W3CDTF">2026-09-26T08:45:20Z</dcterms:modified>
</cp:coreProperties>
</file>