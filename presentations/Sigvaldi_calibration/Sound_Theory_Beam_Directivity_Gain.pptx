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Absorption (dB/km)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18 kHz</c:v>
                  </c:pt>
                  <c:pt idx="1">
                    <c:v>38 kHz</c:v>
                  </c:pt>
                  <c:pt idx="2">
                    <c:v>70 kHz</c:v>
                  </c:pt>
                  <c:pt idx="3">
                    <c:v>120 kHz</c:v>
                  </c:pt>
                  <c:pt idx="4">
                    <c:v>200 kHz</c:v>
                  </c:pt>
                  <c:pt idx="5">
                    <c:v>333 kHz</c:v>
                  </c:pt>
                  <c:pt idx="6">
                    <c:v>500 kHz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1.5</c:v>
                </c:pt>
                <c:pt idx="1">
                  <c:v>3.5</c:v>
                </c:pt>
                <c:pt idx="2">
                  <c:v>6.6</c:v>
                </c:pt>
                <c:pt idx="3">
                  <c:v>20</c:v>
                </c:pt>
                <c:pt idx="4">
                  <c:v>40</c:v>
                </c:pt>
                <c:pt idx="5">
                  <c:v>87</c:v>
                </c:pt>
                <c:pt idx="6">
                  <c:v>140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723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685800"/>
            <a:ext cx="640080" cy="640080"/>
          </a:xfrm>
          <a:prstGeom prst="ellipse">
            <a:avLst/>
          </a:prstGeom>
          <a:ln w="15875">
            <a:solidFill>
              <a:srgbClr val="CFE6EF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38360" y="228600"/>
            <a:ext cx="1554480" cy="1554480"/>
          </a:xfrm>
          <a:prstGeom prst="ellipse">
            <a:avLst/>
          </a:prstGeom>
          <a:ln w="15875">
            <a:solidFill>
              <a:srgbClr val="CFE6EF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81160" y="-228600"/>
            <a:ext cx="2468880" cy="2468880"/>
          </a:xfrm>
          <a:prstGeom prst="ellipse">
            <a:avLst/>
          </a:prstGeom>
          <a:ln w="15875">
            <a:solidFill>
              <a:srgbClr val="CFE6E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23960" y="-685800"/>
            <a:ext cx="3383280" cy="3383280"/>
          </a:xfrm>
          <a:prstGeom prst="ellipse">
            <a:avLst/>
          </a:prstGeom>
          <a:ln w="15875">
            <a:solidFill>
              <a:srgbClr val="CFE6E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0" y="-1143000"/>
            <a:ext cx="4297680" cy="4297680"/>
          </a:xfrm>
          <a:prstGeom prst="ellipse">
            <a:avLst/>
          </a:prstGeom>
          <a:ln w="15875">
            <a:solidFill>
              <a:srgbClr val="CFE6E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5760720"/>
            <a:ext cx="548640" cy="548640"/>
          </a:xfrm>
          <a:prstGeom prst="ellipse">
            <a:avLst/>
          </a:prstGeom>
          <a:ln w="15875">
            <a:solidFill>
              <a:srgbClr val="1C7293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" y="5349240"/>
            <a:ext cx="1371600" cy="1371600"/>
          </a:xfrm>
          <a:prstGeom prst="ellipse">
            <a:avLst/>
          </a:prstGeom>
          <a:ln w="15875">
            <a:solidFill>
              <a:srgbClr val="1C7293">
                <a:alpha val="1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74320" y="4937760"/>
            <a:ext cx="2194560" cy="2194560"/>
          </a:xfrm>
          <a:prstGeom prst="ellipse">
            <a:avLst/>
          </a:prstGeom>
          <a:ln w="15875">
            <a:solidFill>
              <a:srgbClr val="1C7293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685800" y="4526280"/>
            <a:ext cx="3017520" cy="3017520"/>
          </a:xfrm>
          <a:prstGeom prst="ellipse">
            <a:avLst/>
          </a:prstGeom>
          <a:ln w="15875">
            <a:solidFill>
              <a:srgbClr val="1C7293">
                <a:alpha val="1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E89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UNDERWATER ACOUSTICS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3317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Theory of Sound in Water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822960" y="32461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CFE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Transmit power and intensity  ·  the single beam  ·  directivity, gain and equivalent beam angle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FUNDAMENTALS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wave that travels near 1,500 m/s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moves through water as a pressure wave. Its speed, frequency and wavelength are linked by one identity — and the speed itself depends on the water's own properties.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53212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CF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8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37744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relationship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51560" y="3749040"/>
            <a:ext cx="75438" cy="-118332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6998" y="3630708"/>
            <a:ext cx="75438" cy="-110268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2436" y="3520440"/>
            <a:ext cx="75438" cy="-94689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77874" y="3425751"/>
            <a:ext cx="75438" cy="-72658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53312" y="3353093"/>
            <a:ext cx="75438" cy="-45674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28750" y="3307419"/>
            <a:ext cx="75438" cy="-15579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04188" y="3291840"/>
            <a:ext cx="75438" cy="15579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79626" y="3307419"/>
            <a:ext cx="75438" cy="45674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55064" y="3353093"/>
            <a:ext cx="75438" cy="72658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0502" y="3425751"/>
            <a:ext cx="75438" cy="94689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05940" y="3520440"/>
            <a:ext cx="75438" cy="110268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81378" y="3630708"/>
            <a:ext cx="75438" cy="118332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56816" y="3749040"/>
            <a:ext cx="75438" cy="118332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32254" y="3867372"/>
            <a:ext cx="75438" cy="110268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07692" y="3977640"/>
            <a:ext cx="75438" cy="94689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83130" y="4072329"/>
            <a:ext cx="75438" cy="72658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58568" y="4144987"/>
            <a:ext cx="75438" cy="45674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34006" y="4190661"/>
            <a:ext cx="75438" cy="15579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09444" y="4206240"/>
            <a:ext cx="75438" cy="-15579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84882" y="4190661"/>
            <a:ext cx="75438" cy="-45674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0" y="4144987"/>
            <a:ext cx="75438" cy="-72658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35758" y="4072329"/>
            <a:ext cx="75438" cy="-94689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11196" y="3977640"/>
            <a:ext cx="75438" cy="-110268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86634" y="3867372"/>
            <a:ext cx="75438" cy="-118332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62072" y="3749040"/>
            <a:ext cx="75438" cy="-118332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37510" y="3630708"/>
            <a:ext cx="75438" cy="-110268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2948" y="3520440"/>
            <a:ext cx="75438" cy="-94689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88386" y="3425751"/>
            <a:ext cx="75438" cy="-72658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63824" y="3353093"/>
            <a:ext cx="75438" cy="-45674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39262" y="3307419"/>
            <a:ext cx="75438" cy="-15579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14700" y="3291840"/>
            <a:ext cx="75438" cy="15579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90138" y="3307419"/>
            <a:ext cx="75438" cy="45674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65576" y="3353093"/>
            <a:ext cx="75438" cy="72658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41014" y="3425751"/>
            <a:ext cx="75438" cy="94689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16452" y="3520440"/>
            <a:ext cx="75438" cy="110268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91890" y="3630708"/>
            <a:ext cx="75438" cy="118332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767328" y="3749040"/>
            <a:ext cx="75438" cy="118332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42766" y="3867372"/>
            <a:ext cx="75438" cy="110268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918204" y="3977640"/>
            <a:ext cx="75438" cy="94689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993642" y="4072329"/>
            <a:ext cx="75438" cy="72658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069080" y="4144987"/>
            <a:ext cx="75438" cy="45674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144518" y="4190661"/>
            <a:ext cx="75438" cy="15579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19956" y="4206240"/>
            <a:ext cx="75438" cy="-15579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95394" y="4190661"/>
            <a:ext cx="75438" cy="-45674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70832" y="4144987"/>
            <a:ext cx="75438" cy="-72658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446270" y="4072329"/>
            <a:ext cx="75438" cy="-94689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21708" y="3977640"/>
            <a:ext cx="75438" cy="-110268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97146" y="3867372"/>
            <a:ext cx="75438" cy="-118332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672584" y="3749040"/>
            <a:ext cx="75438" cy="-118332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48022" y="3630708"/>
            <a:ext cx="75438" cy="-110268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23460" y="3520440"/>
            <a:ext cx="75438" cy="-94689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98898" y="3425751"/>
            <a:ext cx="75438" cy="-72658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974336" y="3353093"/>
            <a:ext cx="75438" cy="-45674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049774" y="3307419"/>
            <a:ext cx="75438" cy="-15579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125212" y="3291840"/>
            <a:ext cx="75438" cy="15579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200650" y="3307419"/>
            <a:ext cx="75438" cy="45674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276088" y="3353093"/>
            <a:ext cx="75438" cy="72658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51526" y="3425751"/>
            <a:ext cx="75438" cy="94689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426964" y="3520440"/>
            <a:ext cx="75438" cy="110268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502402" y="3630708"/>
            <a:ext cx="75438" cy="118332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51560" y="3749040"/>
            <a:ext cx="4526280" cy="0"/>
          </a:xfrm>
          <a:prstGeom prst="line">
            <a:avLst/>
          </a:prstGeom>
          <a:noFill/>
          <a:ln w="12700">
            <a:solidFill>
              <a:srgbClr val="CFE6EF"/>
            </a:solidFill>
            <a:prstDash val="dash"/>
          </a:ln>
        </p:spPr>
      </p:sp>
      <p:sp>
        <p:nvSpPr>
          <p:cNvPr id="68" name="Shape 66"/>
          <p:cNvSpPr/>
          <p:nvPr/>
        </p:nvSpPr>
        <p:spPr>
          <a:xfrm>
            <a:off x="1051560" y="2999232"/>
            <a:ext cx="1810512" cy="0"/>
          </a:xfrm>
          <a:prstGeom prst="line">
            <a:avLst/>
          </a:prstGeom>
          <a:noFill/>
          <a:ln w="12700">
            <a:solidFill>
              <a:srgbClr val="5C7A9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51560" y="272491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868680" y="5029200"/>
            <a:ext cx="4892040" cy="0"/>
          </a:xfrm>
          <a:prstGeom prst="line">
            <a:avLst/>
          </a:prstGeom>
          <a:noFill/>
          <a:ln w="12700">
            <a:solidFill>
              <a:srgbClr val="CFE6E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68680" y="516636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f × λ</a:t>
            </a:r>
            <a:endParaRPr lang="en-US" sz="2800" dirty="0"/>
          </a:p>
        </p:txBody>
      </p:sp>
      <p:sp>
        <p:nvSpPr>
          <p:cNvPr id="72" name="Text 70"/>
          <p:cNvSpPr/>
          <p:nvPr/>
        </p:nvSpPr>
        <p:spPr>
          <a:xfrm>
            <a:off x="868680" y="57607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speed (m/s)    f = frequency (Hz)    λ = wavelength (m)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355080" y="2148840"/>
            <a:ext cx="5257800" cy="4069080"/>
          </a:xfrm>
          <a:prstGeom prst="roundRect">
            <a:avLst>
              <a:gd name="adj" fmla="val 2247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27000" dist="38100" dir="5400000">
              <a:srgbClr val="1B2A38">
                <a:alpha val="2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10497312" y="2496312"/>
            <a:ext cx="402336" cy="402336"/>
          </a:xfrm>
          <a:prstGeom prst="ellipse">
            <a:avLst/>
          </a:prstGeom>
          <a:ln w="15875">
            <a:solidFill>
              <a:srgbClr val="1C7293">
                <a:alpha val="2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177272" y="2176272"/>
            <a:ext cx="1042416" cy="1042416"/>
          </a:xfrm>
          <a:prstGeom prst="ellipse">
            <a:avLst/>
          </a:prstGeom>
          <a:ln w="15875">
            <a:solidFill>
              <a:srgbClr val="1C7293">
                <a:alpha val="18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857232" y="1856232"/>
            <a:ext cx="1682496" cy="1682496"/>
          </a:xfrm>
          <a:prstGeom prst="ellipse">
            <a:avLst/>
          </a:prstGeom>
          <a:ln w="15875">
            <a:solidFill>
              <a:srgbClr val="1C7293">
                <a:alpha val="1600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675120" y="237744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VALUE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6629400" y="265176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~1,500 m/s</a:t>
            </a:r>
            <a:endParaRPr lang="en-US" sz="4000" dirty="0"/>
          </a:p>
        </p:txBody>
      </p:sp>
      <p:sp>
        <p:nvSpPr>
          <p:cNvPr id="79" name="Text 77"/>
          <p:cNvSpPr/>
          <p:nvPr/>
        </p:nvSpPr>
        <p:spPr>
          <a:xfrm>
            <a:off x="6675120" y="342900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near-surface seawater — roughly 4.3× faster than in air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6675120" y="3931920"/>
            <a:ext cx="4617720" cy="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675120" y="406908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VARIES WITH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6675120" y="443484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3" name="Text 81"/>
          <p:cNvSpPr/>
          <p:nvPr/>
        </p:nvSpPr>
        <p:spPr>
          <a:xfrm>
            <a:off x="6675120" y="4416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7223760" y="44074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7223760" y="465429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near-surface driver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6675120" y="496519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7" name="Text 85"/>
          <p:cNvSpPr/>
          <p:nvPr/>
        </p:nvSpPr>
        <p:spPr>
          <a:xfrm>
            <a:off x="6675120" y="4946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00" dirty="0"/>
          </a:p>
        </p:txBody>
      </p:sp>
      <p:sp>
        <p:nvSpPr>
          <p:cNvPr id="88" name="Text 86"/>
          <p:cNvSpPr/>
          <p:nvPr/>
        </p:nvSpPr>
        <p:spPr>
          <a:xfrm>
            <a:off x="7223760" y="4937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Salinity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7223760" y="51846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density and stiffness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6675120" y="5495544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1" name="Text 89"/>
          <p:cNvSpPr/>
          <p:nvPr/>
        </p:nvSpPr>
        <p:spPr>
          <a:xfrm>
            <a:off x="6675120" y="5477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300" dirty="0"/>
          </a:p>
        </p:txBody>
      </p:sp>
      <p:sp>
        <p:nvSpPr>
          <p:cNvPr id="92" name="Text 90"/>
          <p:cNvSpPr/>
          <p:nvPr/>
        </p:nvSpPr>
        <p:spPr>
          <a:xfrm>
            <a:off x="7223760" y="54681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/ depth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7223760" y="5715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compresses the water</a:t>
            </a:r>
            <a:endParaRPr lang="en-US" sz="1050" dirty="0"/>
          </a:p>
        </p:txBody>
      </p:sp>
      <p:sp>
        <p:nvSpPr>
          <p:cNvPr id="94" name="Text 9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FUNDAMENTALS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transmit power to acoustic intensity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transceiver drives the transducer with an electrical transmit power. What actually propagates through the water is intensity — energy flow per unit area — almost always expressed in decibels.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CF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5146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963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00200" y="251460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Acoustic Intensity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3832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p² / (ρc)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397764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acoustic pressure (Pa), ρ = water density (kg/m³), c = sound speed (m/s). Intensity is power flowing through a unit area, in watts per square metre (W/m²).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5074920"/>
            <a:ext cx="4754880" cy="0"/>
          </a:xfrm>
          <a:prstGeom prst="line">
            <a:avLst/>
          </a:prstGeom>
          <a:noFill/>
          <a:ln w="12700">
            <a:solidFill>
              <a:srgbClr val="CFE6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52578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the source, intensity relates directly to transmit power. Farther out, spreading and absorption reduce it with range.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224028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27000" dist="38100" dir="5400000">
              <a:srgbClr val="1B2A38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0" y="25146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4963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0" y="2514600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Level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83680" y="338328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98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 = 10 log₁₀(I₁ₘ / I_ref)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583680" y="393192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intensity produced at a 1 m reference range, expressed in decibels above a fixed reference intensity — the standard way transmit strength is quoted.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0" y="4846320"/>
            <a:ext cx="4709160" cy="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498348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DECIBEL SCALE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530352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×10 rise in power adds +10 dB — a 10× more powerful transmitter is 10 dB louder, 100× is 20 dB louder.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FUNDAMENTALS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losses shrink every signal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sound travels, it loses energy two ways: the wavefront spreads geometrically, and the medium absorbs energy — with absorption rising steeply at higher frequencies.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21295C"/>
          </a:solidFill>
          <a:ln/>
        </p:spPr>
      </p:sp>
      <p:sp>
        <p:nvSpPr>
          <p:cNvPr id="6" name="Shape 4"/>
          <p:cNvSpPr/>
          <p:nvPr/>
        </p:nvSpPr>
        <p:spPr>
          <a:xfrm>
            <a:off x="2688336" y="3877056"/>
            <a:ext cx="475488" cy="475488"/>
          </a:xfrm>
          <a:prstGeom prst="ellipse">
            <a:avLst/>
          </a:prstGeom>
          <a:ln w="15875">
            <a:solidFill>
              <a:srgbClr val="CFE6EF">
                <a:alpha val="2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22576" y="3511296"/>
            <a:ext cx="1207008" cy="1207008"/>
          </a:xfrm>
          <a:prstGeom prst="ellipse">
            <a:avLst/>
          </a:prstGeom>
          <a:ln w="15875">
            <a:solidFill>
              <a:srgbClr val="CFE6EF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56816" y="3145536"/>
            <a:ext cx="1938528" cy="1938528"/>
          </a:xfrm>
          <a:prstGeom prst="ellipse">
            <a:avLst/>
          </a:prstGeom>
          <a:ln w="15875">
            <a:solidFill>
              <a:srgbClr val="CFE6EF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91056" y="2779776"/>
            <a:ext cx="2670048" cy="2670048"/>
          </a:xfrm>
          <a:prstGeom prst="ellipse">
            <a:avLst/>
          </a:prstGeom>
          <a:ln w="15875">
            <a:solidFill>
              <a:srgbClr val="CFE6EF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25296" y="2414016"/>
            <a:ext cx="3401568" cy="3401568"/>
          </a:xfrm>
          <a:prstGeom prst="ellipse">
            <a:avLst/>
          </a:prstGeom>
          <a:ln w="15875">
            <a:solidFill>
              <a:srgbClr val="CFE6EF">
                <a:alpha val="1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43784" y="4032504"/>
            <a:ext cx="164592" cy="164592"/>
          </a:xfrm>
          <a:prstGeom prst="ellipse">
            <a:avLst/>
          </a:prstGeom>
          <a:solidFill>
            <a:srgbClr val="E8985E"/>
          </a:solidFill>
          <a:ln/>
        </p:spPr>
      </p:sp>
      <p:sp>
        <p:nvSpPr>
          <p:cNvPr id="12" name="Text 10"/>
          <p:cNvSpPr/>
          <p:nvPr/>
        </p:nvSpPr>
        <p:spPr>
          <a:xfrm>
            <a:off x="2103120" y="4251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377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Spherical spreading: intensity falls as 1 / R²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5394960"/>
            <a:ext cx="4709160" cy="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5321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transmission loss (TL)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58064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8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TL = 20 log₁₀(R) + αR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035040" y="2194560"/>
            <a:ext cx="55778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F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8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09360" y="2377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 coefficient (α) vs. frequency</a:t>
            </a:r>
            <a:endParaRPr lang="en-US" sz="12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6309360" y="2880360"/>
          <a:ext cx="50292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THE WATER COLUMN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single-beam transducer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transducer concentrates transmitted energy into a directional beam rather than radiating equally in all directions. A single-beam system uses one such beam to sound the water column beneath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852160" cy="3977640"/>
          </a:xfrm>
          <a:prstGeom prst="roundRect">
            <a:avLst>
              <a:gd name="adj" fmla="val 1839"/>
            </a:avLst>
          </a:prstGeom>
          <a:solidFill>
            <a:srgbClr val="EAF3F7"/>
          </a:solidFill>
          <a:ln w="12700">
            <a:solidFill>
              <a:srgbClr val="CFE6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17520" y="2542032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246888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Transducer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 flipV="1">
            <a:off x="2103120" y="2788920"/>
            <a:ext cx="2743200" cy="2834640"/>
          </a:xfrm>
          <a:prstGeom prst="triangle">
            <a:avLst/>
          </a:prstGeom>
          <a:solidFill>
            <a:srgbClr val="1C7293">
              <a:alpha val="22000"/>
            </a:srgbClr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2743200"/>
            <a:ext cx="0" cy="2834640"/>
          </a:xfrm>
          <a:prstGeom prst="line">
            <a:avLst/>
          </a:prstGeom>
          <a:noFill/>
          <a:ln w="12700">
            <a:solidFill>
              <a:srgbClr val="5C7A9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 flipV="1">
            <a:off x="1508760" y="2926080"/>
            <a:ext cx="685800" cy="2194560"/>
          </a:xfrm>
          <a:prstGeom prst="triangle">
            <a:avLst/>
          </a:prstGeom>
          <a:solidFill>
            <a:srgbClr val="E8985E">
              <a:alpha val="20000"/>
            </a:srgbClr>
          </a:solidFill>
          <a:ln w="12700">
            <a:solidFill>
              <a:srgbClr val="E898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4754880" y="2926080"/>
            <a:ext cx="685800" cy="2194560"/>
          </a:xfrm>
          <a:prstGeom prst="triangle">
            <a:avLst/>
          </a:prstGeom>
          <a:solidFill>
            <a:srgbClr val="E8985E">
              <a:alpha val="20000"/>
            </a:srgbClr>
          </a:solidFill>
          <a:ln w="12700">
            <a:solidFill>
              <a:srgbClr val="E898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77640" y="30632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88920" y="4114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lobe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71600" y="4114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lobe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4114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lobe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57150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half-power beamwidth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0840" y="224028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E6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85432" y="240487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6885432" y="2386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06640" y="23134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lobe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406640" y="258775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almost all transmitted energy — the beam's axis of maximum sensitivity.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20840" y="3264408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E6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85432" y="34290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6885432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06640" y="3337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Beamwidth (θ)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406640" y="36118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width of the main lobe, usually taken at the half-power points.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720840" y="4288536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E6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85432" y="4453128"/>
            <a:ext cx="384048" cy="384048"/>
          </a:xfrm>
          <a:prstGeom prst="ellipse">
            <a:avLst/>
          </a:prstGeom>
          <a:solidFill>
            <a:srgbClr val="E8985E"/>
          </a:solidFill>
          <a:ln/>
        </p:spPr>
      </p:sp>
      <p:sp>
        <p:nvSpPr>
          <p:cNvPr id="29" name="Text 27"/>
          <p:cNvSpPr/>
          <p:nvPr/>
        </p:nvSpPr>
        <p:spPr>
          <a:xfrm>
            <a:off x="6885432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06640" y="43616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lobes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406640" y="463600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off-axis leakage; strong reflectors there can create weak false echoes.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720840" y="5312664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E6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85432" y="5477256"/>
            <a:ext cx="384048" cy="3840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4" name="Text 32"/>
          <p:cNvSpPr/>
          <p:nvPr/>
        </p:nvSpPr>
        <p:spPr>
          <a:xfrm>
            <a:off x="6885432" y="5458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406640" y="5385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Single-beam limit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406640" y="5660136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and echo strength along the axis only — not a target's position within the beam.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PERFORMANCE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Directivity concentrates energy — gain measures it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larger transducer face packs the same energy into a narrower beam. That concentration, relative to a hypothetical source radiating equally in all directions, is what directivity and gain describe.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53212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CF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8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44144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Aperture size sets beam width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039112" y="2926080"/>
            <a:ext cx="219456" cy="146304"/>
          </a:xfrm>
          <a:prstGeom prst="roundRect">
            <a:avLst/>
          </a:prstGeom>
          <a:solidFill>
            <a:srgbClr val="21295C"/>
          </a:solidFill>
          <a:ln/>
        </p:spPr>
      </p:sp>
      <p:sp>
        <p:nvSpPr>
          <p:cNvPr id="8" name="Shape 6"/>
          <p:cNvSpPr/>
          <p:nvPr/>
        </p:nvSpPr>
        <p:spPr>
          <a:xfrm flipV="1">
            <a:off x="1234440" y="3072384"/>
            <a:ext cx="1828800" cy="1417320"/>
          </a:xfrm>
          <a:prstGeom prst="triangle">
            <a:avLst/>
          </a:prstGeom>
          <a:solidFill>
            <a:srgbClr val="E8985E">
              <a:alpha val="22000"/>
            </a:srgbClr>
          </a:solidFill>
          <a:ln w="19050">
            <a:solidFill>
              <a:srgbClr val="E898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4617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aperture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43000" y="48737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beam → low gain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51960" y="2926080"/>
            <a:ext cx="548640" cy="146304"/>
          </a:xfrm>
          <a:prstGeom prst="roundRect">
            <a:avLst/>
          </a:prstGeom>
          <a:solidFill>
            <a:srgbClr val="21295C"/>
          </a:solidFill>
          <a:ln/>
        </p:spPr>
      </p:sp>
      <p:sp>
        <p:nvSpPr>
          <p:cNvPr id="12" name="Shape 10"/>
          <p:cNvSpPr/>
          <p:nvPr/>
        </p:nvSpPr>
        <p:spPr>
          <a:xfrm flipV="1">
            <a:off x="4023360" y="3072384"/>
            <a:ext cx="1005840" cy="1417320"/>
          </a:xfrm>
          <a:prstGeom prst="triangle">
            <a:avLst/>
          </a:prstGeom>
          <a:solidFill>
            <a:srgbClr val="1C7293">
              <a:alpha val="22000"/>
            </a:srgbClr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4617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aperture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20440" y="48737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beam → high gain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22960" y="5303520"/>
            <a:ext cx="4983480" cy="0"/>
          </a:xfrm>
          <a:prstGeom prst="line">
            <a:avLst/>
          </a:prstGeom>
          <a:noFill/>
          <a:ln w="12700">
            <a:solidFill>
              <a:srgbClr val="CFE6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440680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Directivity factor D compares the on-axis intensity to that of an omnidirectional source radiating the same total power. A narrower main lobe means a higher 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55080" y="2240280"/>
            <a:ext cx="5257800" cy="3977640"/>
          </a:xfrm>
          <a:prstGeom prst="roundRect">
            <a:avLst>
              <a:gd name="adj" fmla="val 2299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27000" dist="38100" dir="5400000">
              <a:srgbClr val="1B2A38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75120" y="25146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24963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406640" y="2514600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Transducer Gain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675120" y="338328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98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= 10 log₁₀(D)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675120" y="397764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expresses directivity in decibels — the standard figure of merit quoted for a transducer's on-axis performance, both transmitting and receiving.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75120" y="4937760"/>
            <a:ext cx="4617720" cy="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507492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GAIN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75120" y="5394960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echo passes through the beam twice — out and back — so the same gain applies on transmit and receive, for a combined 2G in decibels.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PERFORMANCE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Equivalent beam angle: one number for a beam's shape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beam tapers gradually from its peak; there is no sharp edge to say where it “ends.” The equivalent beam angle Ψ replaces that taper with an idealized beam of the same peak response and the same total energy.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658368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CF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8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57860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beam response vs. angle off-axis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97280" y="5440680"/>
            <a:ext cx="5486400" cy="0"/>
          </a:xfrm>
          <a:prstGeom prst="line">
            <a:avLst/>
          </a:prstGeom>
          <a:noFill/>
          <a:ln w="12700">
            <a:solidFill>
              <a:srgbClr val="5C7A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65146" y="3474720"/>
            <a:ext cx="2150669" cy="1965960"/>
          </a:xfrm>
          <a:prstGeom prst="rect">
            <a:avLst/>
          </a:prstGeom>
          <a:solidFill>
            <a:srgbClr val="E8985E">
              <a:alpha val="18000"/>
            </a:srgbClr>
          </a:solidFill>
          <a:ln w="22225">
            <a:solidFill>
              <a:srgbClr val="E8985E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280160" y="5440680"/>
            <a:ext cx="102413" cy="-4456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2573" y="5436224"/>
            <a:ext cx="102413" cy="-15929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84986" y="5420295"/>
            <a:ext cx="102413" cy="-28997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7398" y="5391298"/>
            <a:ext cx="102413" cy="-42667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89811" y="5348630"/>
            <a:ext cx="102413" cy="-56385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92224" y="5292245"/>
            <a:ext cx="102413" cy="-69719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94637" y="5222526"/>
            <a:ext cx="102413" cy="-82302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97050" y="5140224"/>
            <a:ext cx="102413" cy="-93811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99462" y="5046414"/>
            <a:ext cx="102413" cy="-103962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01875" y="4942452"/>
            <a:ext cx="102413" cy="-112511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04288" y="4829941"/>
            <a:ext cx="102413" cy="-119251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06701" y="4710690"/>
            <a:ext cx="102413" cy="-124018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09114" y="4586672"/>
            <a:ext cx="102413" cy="-126687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11526" y="4459985"/>
            <a:ext cx="102413" cy="-127180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13939" y="4332805"/>
            <a:ext cx="102413" cy="-125461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16352" y="4207344"/>
            <a:ext cx="102413" cy="-121539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18765" y="4085805"/>
            <a:ext cx="102413" cy="-115466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21178" y="3970339"/>
            <a:ext cx="102413" cy="-107339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23590" y="3863000"/>
            <a:ext cx="102413" cy="-97292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26003" y="3765708"/>
            <a:ext cx="102413" cy="-85498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28416" y="3680210"/>
            <a:ext cx="102413" cy="-72165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30829" y="3608045"/>
            <a:ext cx="102413" cy="-57529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33242" y="3550516"/>
            <a:ext cx="102413" cy="-41853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35654" y="3508664"/>
            <a:ext cx="102413" cy="-25419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38067" y="3483245"/>
            <a:ext cx="102413" cy="-8525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0480" y="3474720"/>
            <a:ext cx="102413" cy="8525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942893" y="3483245"/>
            <a:ext cx="102413" cy="25419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45306" y="3508664"/>
            <a:ext cx="102413" cy="41853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47718" y="3550516"/>
            <a:ext cx="102413" cy="57529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50131" y="3608045"/>
            <a:ext cx="102413" cy="72165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52544" y="3680210"/>
            <a:ext cx="102413" cy="85498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54957" y="3765708"/>
            <a:ext cx="102413" cy="97292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57370" y="3863000"/>
            <a:ext cx="102413" cy="107339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59782" y="3970339"/>
            <a:ext cx="102413" cy="115466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62195" y="4085805"/>
            <a:ext cx="102413" cy="121539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64608" y="4207344"/>
            <a:ext cx="102413" cy="125461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67021" y="4332805"/>
            <a:ext cx="102413" cy="127180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69434" y="4459985"/>
            <a:ext cx="102413" cy="126687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171846" y="4586672"/>
            <a:ext cx="102413" cy="124018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74259" y="4710690"/>
            <a:ext cx="102413" cy="119251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376672" y="4829941"/>
            <a:ext cx="102413" cy="112511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79085" y="4942452"/>
            <a:ext cx="102413" cy="103962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581498" y="5046414"/>
            <a:ext cx="102413" cy="93811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683910" y="5140224"/>
            <a:ext cx="102413" cy="82302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786323" y="5222526"/>
            <a:ext cx="102413" cy="69719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888736" y="5292245"/>
            <a:ext cx="102413" cy="56385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991149" y="5348630"/>
            <a:ext cx="102413" cy="42667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093562" y="5391298"/>
            <a:ext cx="102413" cy="28997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195974" y="5420295"/>
            <a:ext cx="102413" cy="15929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98387" y="5436224"/>
            <a:ext cx="102413" cy="4456"/>
          </a:xfrm>
          <a:prstGeom prst="line">
            <a:avLst/>
          </a:prstGeom>
          <a:noFill/>
          <a:ln w="34925">
            <a:solidFill>
              <a:srgbClr val="065A8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840480" y="3474720"/>
            <a:ext cx="2743200" cy="0"/>
          </a:xfrm>
          <a:prstGeom prst="line">
            <a:avLst/>
          </a:prstGeom>
          <a:noFill/>
          <a:ln w="12700">
            <a:solidFill>
              <a:srgbClr val="CFE6EF"/>
            </a:solidFill>
            <a:prstDash val="dash"/>
          </a:ln>
        </p:spPr>
      </p:sp>
      <p:sp>
        <p:nvSpPr>
          <p:cNvPr id="60" name="Text 58"/>
          <p:cNvSpPr/>
          <p:nvPr/>
        </p:nvSpPr>
        <p:spPr>
          <a:xfrm>
            <a:off x="4069080" y="34290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response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1371600" y="4023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beam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3154680" y="43205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(Ψ)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280160" y="55321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off-axis angle →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68680" y="58521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peak height, same area under the curve — different shape.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406640" y="2377440"/>
            <a:ext cx="4251960" cy="3840480"/>
          </a:xfrm>
          <a:prstGeom prst="roundRect">
            <a:avLst>
              <a:gd name="adj" fmla="val 2381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27000" dist="38100" dir="5400000">
              <a:srgbClr val="1B2A38">
                <a:alpha val="20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7726680" y="26060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9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3600" dirty="0"/>
          </a:p>
        </p:txBody>
      </p:sp>
      <p:sp>
        <p:nvSpPr>
          <p:cNvPr id="67" name="Text 65"/>
          <p:cNvSpPr/>
          <p:nvPr/>
        </p:nvSpPr>
        <p:spPr>
          <a:xfrm>
            <a:off x="7726680" y="333756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Expressed in steradians (solid angle), or as 10 log₁₀(Ψ) in dB re 1 steradian.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7726680" y="3977640"/>
            <a:ext cx="3611880" cy="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726680" y="411480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9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7726680" y="4434840"/>
            <a:ext cx="3611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converts a single target's echo into the backscattering strength of an entire volume of scatterers, by defining how much of the water column each ping effectively samples.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7726680" y="5532120"/>
            <a:ext cx="3611880" cy="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726680" y="566928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calibrated constant, unique to each transducer.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512064" cy="512064"/>
          </a:xfrm>
          <a:prstGeom prst="ellipse">
            <a:avLst/>
          </a:prstGeom>
          <a:ln w="15875">
            <a:solidFill>
              <a:srgbClr val="CFE6EF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01168"/>
            <a:ext cx="1243584" cy="1243584"/>
          </a:xfrm>
          <a:prstGeom prst="ellipse">
            <a:avLst/>
          </a:prstGeom>
          <a:ln w="15875">
            <a:solidFill>
              <a:srgbClr val="CFE6EF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" y="-164592"/>
            <a:ext cx="1975104" cy="1975104"/>
          </a:xfrm>
          <a:prstGeom prst="ellipse">
            <a:avLst/>
          </a:prstGeom>
          <a:ln w="15875">
            <a:solidFill>
              <a:srgbClr val="CFE6E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38912" y="-530352"/>
            <a:ext cx="2706624" cy="2706624"/>
          </a:xfrm>
          <a:prstGeom prst="ellipse">
            <a:avLst/>
          </a:prstGeom>
          <a:ln w="15875">
            <a:solidFill>
              <a:srgbClr val="CFE6E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91088" y="5687568"/>
            <a:ext cx="512064" cy="512064"/>
          </a:xfrm>
          <a:prstGeom prst="ellipse">
            <a:avLst/>
          </a:prstGeom>
          <a:ln w="15875">
            <a:solidFill>
              <a:srgbClr val="1C7293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25328" y="5321808"/>
            <a:ext cx="1243584" cy="1243584"/>
          </a:xfrm>
          <a:prstGeom prst="ellipse">
            <a:avLst/>
          </a:prstGeom>
          <a:ln w="15875">
            <a:solidFill>
              <a:srgbClr val="1C7293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59568" y="4956048"/>
            <a:ext cx="1975104" cy="1975104"/>
          </a:xfrm>
          <a:prstGeom prst="ellipse">
            <a:avLst/>
          </a:prstGeom>
          <a:ln w="15875">
            <a:solidFill>
              <a:srgbClr val="1C7293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93808" y="4590288"/>
            <a:ext cx="2706624" cy="2706624"/>
          </a:xfrm>
          <a:prstGeom prst="ellipse">
            <a:avLst/>
          </a:prstGeom>
          <a:ln w="15875">
            <a:solidFill>
              <a:srgbClr val="1C7293">
                <a:alpha val="1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9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10972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ideas behind every single-beam measurement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40080" y="2148840"/>
            <a:ext cx="347472" cy="347472"/>
          </a:xfrm>
          <a:prstGeom prst="ellipse">
            <a:avLst/>
          </a:prstGeom>
          <a:solidFill>
            <a:srgbClr val="E8985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130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70432" y="2075688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is a pressure wave: c = f × λ, travelling near 1,500 m/s and varying with temperature, salinity and pressure.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2898648"/>
            <a:ext cx="347472" cy="347472"/>
          </a:xfrm>
          <a:prstGeom prst="ellipse">
            <a:avLst/>
          </a:prstGeom>
          <a:solidFill>
            <a:srgbClr val="E8985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70432" y="2825496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 power sets the acoustic intensity radiated; because intensity spans huge ranges, it is expressed in decibels (Source Level).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3648456"/>
            <a:ext cx="347472" cy="347472"/>
          </a:xfrm>
          <a:prstGeom prst="ellipse">
            <a:avLst/>
          </a:prstGeom>
          <a:solidFill>
            <a:srgbClr val="E8985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630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70432" y="3575304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loss combines geometric spreading with frequency-dependent absorption as the signal travels out and back.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398264"/>
            <a:ext cx="347472" cy="347472"/>
          </a:xfrm>
          <a:prstGeom prst="ellipse">
            <a:avLst/>
          </a:prstGeom>
          <a:solidFill>
            <a:srgbClr val="E8985E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379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70432" y="4325112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single-beam transducer concentrates energy into one main lobe — giving range and echo strength, but not off-axis position.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148072"/>
            <a:ext cx="347472" cy="347472"/>
          </a:xfrm>
          <a:prstGeom prst="ellipse">
            <a:avLst/>
          </a:prstGeom>
          <a:solidFill>
            <a:srgbClr val="E8985E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129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70432" y="5074920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Directivity and gain (G = 10 log₁₀ D) quantify how tightly a transducer's aperture concentrates energy on-axis.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5897880"/>
            <a:ext cx="347472" cy="347472"/>
          </a:xfrm>
          <a:prstGeom prst="ellipse">
            <a:avLst/>
          </a:prstGeom>
          <a:solidFill>
            <a:srgbClr val="E8985E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5879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70432" y="5824728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equivalent beam angle Ψ reduces a real beam's taper to one calibrated number, used to convert echoes into volume backscattering strength.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2026-09-22T11:51:24Z</dcterms:created>
  <dcterms:modified xsi:type="dcterms:W3CDTF">2026-09-22T11:51:24Z</dcterms:modified>
</cp:coreProperties>
</file>