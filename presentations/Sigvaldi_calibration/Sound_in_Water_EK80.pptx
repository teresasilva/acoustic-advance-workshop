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Range</c:v>
                </c:pt>
              </c:strCache>
            </c:strRef>
          </c:tx>
          <c:spPr>
            <a:solidFill>
              <a:srgbClr val="1C7293">
                <a:alpha val="100000"/>
              </a:srgbClr>
            </a:solidFill>
            <a:effectLst/>
          </c:spPr>
          <c:invertIfNegative val="0"/>
          <c:dLbls>
            <c:numFmt formatCode="#,##0" sourceLinked="0"/>
            <c:txPr>
              <a:bodyPr/>
              <a:lstStyle/>
              <a:p>
                <a:pPr>
                  <a:defRPr b="1" i="0" strike="noStrike" sz="1100" u="none">
                    <a:solidFill>
                      <a:srgbClr val="21295C"/>
                    </a:solidFill>
                    <a:latin typeface="Arial"/>
                  </a:defRPr>
                </a:pPr>
              </a:p>
            </c:txPr>
            <c:showLegendKey val="0"/>
            <c:showVal val="1"/>
            <c:showCatName val="0"/>
            <c:showSerName val="0"/>
            <c:showPercent val="0"/>
            <c:showBubbleSize val="0"/>
            <c:showLeaderLines val="0"/>
          </c:dLbls>
          <c:cat>
            <c:multiLvlStrRef>
              <c:f>Sheet1!$A$2:$A$4</c:f>
              <c:multiLvlStrCache>
                <c:ptCount val="3"/>
                <c:lvl>
                  <c:pt idx="0">
                    <c:v>Radio /
Radar</c:v>
                  </c:pt>
                  <c:pt idx="1">
                    <c:v>Visible
Light</c:v>
                  </c:pt>
                  <c:pt idx="2">
                    <c:v>Sound
(Sonar)</c:v>
                  </c:pt>
                </c:lvl>
              </c:multiLvlStrCache>
            </c:multiLvlStrRef>
          </c:cat>
          <c:val>
            <c:numRef>
              <c:f>Sheet1!$B$2:$B$4</c:f>
              <c:numCache>
                <c:formatCode>General</c:formatCode>
                <c:ptCount val="3"/>
                <c:pt idx="0">
                  <c:v>0.5</c:v>
                </c:pt>
                <c:pt idx="1">
                  <c:v>30</c:v>
                </c:pt>
                <c:pt idx="2">
                  <c:v>3000</c:v>
                </c:pt>
              </c:numCache>
            </c:numRef>
          </c:val>
        </c:ser>
        <c:dLbls>
          <c:numFmt formatCode="#,##0" sourceLinked="0"/>
          <c:txPr>
            <a:bodyPr/>
            <a:lstStyle/>
            <a:p>
              <a:pPr>
                <a:defRPr b="1" i="0" strike="noStrike" sz="1100" u="none">
                  <a:solidFill>
                    <a:srgbClr val="2129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E6EF"/>
            </a:solidFill>
            <a:prstDash val="solid"/>
            <a:round/>
          </a:ln>
        </c:spPr>
        <c:txPr>
          <a:bodyPr/>
          <a:lstStyle/>
          <a:p>
            <a:pPr>
              <a:defRPr sz="1100" b="0" i="0" u="none" strike="noStrike">
                <a:solidFill>
                  <a:srgbClr val="17232E"/>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Sound speed</c:v>
                </c:pt>
              </c:strCache>
            </c:strRef>
          </c:tx>
          <c:spPr>
            <a:solidFill>
              <a:srgbClr val="065A82"/>
            </a:solidFill>
            <a:ln w="3175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65A82"/>
              </a:solidFill>
              <a:ln w="9525" cap="flat">
                <a:solidFill>
                  <a:srgbClr val="065A82"/>
                </a:solidFill>
                <a:prstDash val="solid"/>
                <a:round/>
              </a:ln>
              <a:effectLst/>
            </c:spPr>
          </c:marker>
          <c:cat>
            <c:multiLvlStrRef>
              <c:f>Sheet1!$A$2:$A$8</c:f>
              <c:multiLvlStrCache>
                <c:ptCount val="7"/>
                <c:lvl>
                  <c:pt idx="0">
                    <c:v>0 m</c:v>
                  </c:pt>
                  <c:pt idx="1">
                    <c:v>100 m</c:v>
                  </c:pt>
                  <c:pt idx="2">
                    <c:v>300 m</c:v>
                  </c:pt>
                  <c:pt idx="3">
                    <c:v>600 m</c:v>
                  </c:pt>
                  <c:pt idx="4">
                    <c:v>1000 m</c:v>
                  </c:pt>
                  <c:pt idx="5">
                    <c:v>1500 m</c:v>
                  </c:pt>
                  <c:pt idx="6">
                    <c:v>2000 m</c:v>
                  </c:pt>
                </c:lvl>
              </c:multiLvlStrCache>
            </c:multiLvlStrRef>
          </c:cat>
          <c:val>
            <c:numRef>
              <c:f>Sheet1!$B$2:$B$8</c:f>
              <c:numCache>
                <c:formatCode>General</c:formatCode>
                <c:ptCount val="7"/>
                <c:pt idx="0">
                  <c:v>1541</c:v>
                </c:pt>
                <c:pt idx="1">
                  <c:v>1507</c:v>
                </c:pt>
                <c:pt idx="2">
                  <c:v>1495</c:v>
                </c:pt>
                <c:pt idx="3">
                  <c:v>1487</c:v>
                </c:pt>
                <c:pt idx="4">
                  <c:v>1483</c:v>
                </c:pt>
                <c:pt idx="5">
                  <c:v>1488</c:v>
                </c:pt>
                <c:pt idx="6">
                  <c:v>1496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7232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CFE6EF"/>
              </a:solidFill>
              <a:prstDash val="solid"/>
              <a:round/>
            </a:ln>
          </c:spPr>
        </c:majorGridlines>
        <c:title>
          <c:tx>
            <c:rich>
              <a:bodyPr/>
              <a:lstStyle/>
              <a:p>
                <a:pPr>
                  <a:defRPr sz="1000" b="0" i="0" u="none" strike="noStrike">
                    <a:solidFill>
                      <a:srgbClr val="5C7A90"/>
                    </a:solidFill>
                    <a:latin typeface="Arial"/>
                  </a:defRPr>
                </a:pPr>
                <a:r>
                  <a:rPr sz="1000" b="0" i="0" u="none" strike="noStrike">
                    <a:solidFill>
                      <a:srgbClr val="5C7A90"/>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17232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Absorption (dB/km)</c:v>
                </c:pt>
              </c:strCache>
            </c:strRef>
          </c:tx>
          <c:spPr>
            <a:solidFill>
              <a:srgbClr val="1C7293"/>
            </a:solidFill>
            <a:effectLst/>
          </c:spPr>
          <c:invertIfNegative val="0"/>
          <c:dLbls>
            <c:numFmt formatCode="#,##0" sourceLinked="0"/>
            <c:txPr>
              <a:bodyPr/>
              <a:lstStyle/>
              <a:p>
                <a:pPr>
                  <a:defRPr b="0" i="0" strike="noStrike" sz="900" u="none">
                    <a:solidFill>
                      <a:srgbClr val="21295C"/>
                    </a:solidFill>
                    <a:latin typeface="Arial"/>
                  </a:defRPr>
                </a:pPr>
              </a:p>
            </c:txPr>
            <c:showLegendKey val="0"/>
            <c:showVal val="1"/>
            <c:showCatName val="0"/>
            <c:showSerName val="0"/>
            <c:showPercent val="0"/>
            <c:showBubbleSize val="0"/>
            <c:showLeaderLines val="0"/>
          </c:dLbls>
          <c:cat>
            <c:multiLvlStrRef>
              <c:f>Sheet1!$A$2:$A$8</c:f>
              <c:multiLvlStrCache>
                <c:ptCount val="7"/>
                <c:lvl>
                  <c:pt idx="0">
                    <c:v>18 kHz</c:v>
                  </c:pt>
                  <c:pt idx="1">
                    <c:v>38 kHz</c:v>
                  </c:pt>
                  <c:pt idx="2">
                    <c:v>70 kHz</c:v>
                  </c:pt>
                  <c:pt idx="3">
                    <c:v>120 kHz</c:v>
                  </c:pt>
                  <c:pt idx="4">
                    <c:v>200 kHz</c:v>
                  </c:pt>
                  <c:pt idx="5">
                    <c:v>333 kHz</c:v>
                  </c:pt>
                  <c:pt idx="6">
                    <c:v>500 kHz</c:v>
                  </c:pt>
                </c:lvl>
              </c:multiLvlStrCache>
            </c:multiLvlStrRef>
          </c:cat>
          <c:val>
            <c:numRef>
              <c:f>Sheet1!$B$2:$B$8</c:f>
              <c:numCache>
                <c:formatCode>General</c:formatCode>
                <c:ptCount val="7"/>
                <c:pt idx="0">
                  <c:v>1.5</c:v>
                </c:pt>
                <c:pt idx="1">
                  <c:v>3.5</c:v>
                </c:pt>
                <c:pt idx="2">
                  <c:v>6.6</c:v>
                </c:pt>
                <c:pt idx="3">
                  <c:v>20</c:v>
                </c:pt>
                <c:pt idx="4">
                  <c:v>40</c:v>
                </c:pt>
                <c:pt idx="5">
                  <c:v>87</c:v>
                </c:pt>
                <c:pt idx="6">
                  <c:v>140</c:v>
                </c:pt>
              </c:numCache>
            </c:numRef>
          </c:val>
        </c:ser>
        <c:dLbls>
          <c:numFmt formatCode="#,##0" sourceLinked="0"/>
          <c:txPr>
            <a:bodyPr/>
            <a:lstStyle/>
            <a:p>
              <a:pPr>
                <a:defRPr b="0" i="0" strike="noStrike" sz="900" u="none">
                  <a:solidFill>
                    <a:srgbClr val="2129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7232E"/>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012680" y="685800"/>
            <a:ext cx="640080" cy="640080"/>
          </a:xfrm>
          <a:prstGeom prst="ellipse">
            <a:avLst/>
          </a:prstGeom>
          <a:ln w="15875">
            <a:solidFill>
              <a:srgbClr val="CFE6EF">
                <a:alpha val="16000"/>
              </a:srgbClr>
            </a:solidFill>
            <a:prstDash val="solid"/>
          </a:ln>
        </p:spPr>
      </p:sp>
      <p:sp>
        <p:nvSpPr>
          <p:cNvPr id="3" name="Shape 1"/>
          <p:cNvSpPr/>
          <p:nvPr/>
        </p:nvSpPr>
        <p:spPr>
          <a:xfrm>
            <a:off x="9555480" y="228600"/>
            <a:ext cx="1554480" cy="1554480"/>
          </a:xfrm>
          <a:prstGeom prst="ellipse">
            <a:avLst/>
          </a:prstGeom>
          <a:ln w="15875">
            <a:solidFill>
              <a:srgbClr val="CFE6EF">
                <a:alpha val="14000"/>
              </a:srgbClr>
            </a:solidFill>
            <a:prstDash val="solid"/>
          </a:ln>
        </p:spPr>
      </p:sp>
      <p:sp>
        <p:nvSpPr>
          <p:cNvPr id="4" name="Shape 2"/>
          <p:cNvSpPr/>
          <p:nvPr/>
        </p:nvSpPr>
        <p:spPr>
          <a:xfrm>
            <a:off x="9098280" y="-228600"/>
            <a:ext cx="2468880" cy="2468880"/>
          </a:xfrm>
          <a:prstGeom prst="ellipse">
            <a:avLst/>
          </a:prstGeom>
          <a:ln w="15875">
            <a:solidFill>
              <a:srgbClr val="CFE6EF">
                <a:alpha val="12000"/>
              </a:srgbClr>
            </a:solidFill>
            <a:prstDash val="solid"/>
          </a:ln>
        </p:spPr>
      </p:sp>
      <p:sp>
        <p:nvSpPr>
          <p:cNvPr id="5" name="Shape 3"/>
          <p:cNvSpPr/>
          <p:nvPr/>
        </p:nvSpPr>
        <p:spPr>
          <a:xfrm>
            <a:off x="8641080" y="-685800"/>
            <a:ext cx="3383280" cy="3383280"/>
          </a:xfrm>
          <a:prstGeom prst="ellipse">
            <a:avLst/>
          </a:prstGeom>
          <a:ln w="15875">
            <a:solidFill>
              <a:srgbClr val="CFE6EF">
                <a:alpha val="10000"/>
              </a:srgbClr>
            </a:solidFill>
            <a:prstDash val="solid"/>
          </a:ln>
        </p:spPr>
      </p:sp>
      <p:sp>
        <p:nvSpPr>
          <p:cNvPr id="6" name="Shape 4"/>
          <p:cNvSpPr/>
          <p:nvPr/>
        </p:nvSpPr>
        <p:spPr>
          <a:xfrm>
            <a:off x="8183880" y="-1143000"/>
            <a:ext cx="4297680" cy="4297680"/>
          </a:xfrm>
          <a:prstGeom prst="ellipse">
            <a:avLst/>
          </a:prstGeom>
          <a:ln w="15875">
            <a:solidFill>
              <a:srgbClr val="CFE6EF">
                <a:alpha val="8000"/>
              </a:srgbClr>
            </a:solidFill>
            <a:prstDash val="solid"/>
          </a:ln>
        </p:spPr>
      </p:sp>
      <p:sp>
        <p:nvSpPr>
          <p:cNvPr id="7" name="Shape 5"/>
          <p:cNvSpPr/>
          <p:nvPr/>
        </p:nvSpPr>
        <p:spPr>
          <a:xfrm>
            <a:off x="640080" y="5760720"/>
            <a:ext cx="548640" cy="548640"/>
          </a:xfrm>
          <a:prstGeom prst="ellipse">
            <a:avLst/>
          </a:prstGeom>
          <a:ln w="15875">
            <a:solidFill>
              <a:srgbClr val="1C7293">
                <a:alpha val="18000"/>
              </a:srgbClr>
            </a:solidFill>
            <a:prstDash val="solid"/>
          </a:ln>
        </p:spPr>
      </p:sp>
      <p:sp>
        <p:nvSpPr>
          <p:cNvPr id="8" name="Shape 6"/>
          <p:cNvSpPr/>
          <p:nvPr/>
        </p:nvSpPr>
        <p:spPr>
          <a:xfrm>
            <a:off x="228600" y="5349240"/>
            <a:ext cx="1371600" cy="1371600"/>
          </a:xfrm>
          <a:prstGeom prst="ellipse">
            <a:avLst/>
          </a:prstGeom>
          <a:ln w="15875">
            <a:solidFill>
              <a:srgbClr val="1C7293">
                <a:alpha val="16000"/>
              </a:srgbClr>
            </a:solidFill>
            <a:prstDash val="solid"/>
          </a:ln>
        </p:spPr>
      </p:sp>
      <p:sp>
        <p:nvSpPr>
          <p:cNvPr id="9" name="Shape 7"/>
          <p:cNvSpPr/>
          <p:nvPr/>
        </p:nvSpPr>
        <p:spPr>
          <a:xfrm>
            <a:off x="-182880" y="4937760"/>
            <a:ext cx="2194560" cy="2194560"/>
          </a:xfrm>
          <a:prstGeom prst="ellipse">
            <a:avLst/>
          </a:prstGeom>
          <a:ln w="15875">
            <a:solidFill>
              <a:srgbClr val="1C7293">
                <a:alpha val="14000"/>
              </a:srgbClr>
            </a:solidFill>
            <a:prstDash val="solid"/>
          </a:ln>
        </p:spPr>
      </p:sp>
      <p:sp>
        <p:nvSpPr>
          <p:cNvPr id="10" name="Shape 8"/>
          <p:cNvSpPr/>
          <p:nvPr/>
        </p:nvSpPr>
        <p:spPr>
          <a:xfrm>
            <a:off x="-594360" y="4526280"/>
            <a:ext cx="3017520" cy="3017520"/>
          </a:xfrm>
          <a:prstGeom prst="ellipse">
            <a:avLst/>
          </a:prstGeom>
          <a:ln w="15875">
            <a:solidFill>
              <a:srgbClr val="1C7293">
                <a:alpha val="12000"/>
              </a:srgbClr>
            </a:solidFill>
            <a:prstDash val="solid"/>
          </a:ln>
        </p:spPr>
      </p:sp>
      <p:sp>
        <p:nvSpPr>
          <p:cNvPr id="11" name="Text 9"/>
          <p:cNvSpPr/>
          <p:nvPr/>
        </p:nvSpPr>
        <p:spPr>
          <a:xfrm>
            <a:off x="822960" y="1965960"/>
            <a:ext cx="9144000" cy="365760"/>
          </a:xfrm>
          <a:prstGeom prst="rect">
            <a:avLst/>
          </a:prstGeom>
          <a:noFill/>
          <a:ln/>
        </p:spPr>
        <p:txBody>
          <a:bodyPr wrap="square" rtlCol="0" anchor="ctr"/>
          <a:lstStyle/>
          <a:p>
            <a:pPr indent="0" marL="0">
              <a:buNone/>
            </a:pPr>
            <a:r>
              <a:rPr lang="en-US" sz="1300" b="1" spc="250" kern="0" dirty="0">
                <a:solidFill>
                  <a:srgbClr val="E8985E"/>
                </a:solidFill>
                <a:latin typeface="Calibri" pitchFamily="34" charset="0"/>
                <a:ea typeface="Calibri" pitchFamily="34" charset="-122"/>
                <a:cs typeface="Calibri" pitchFamily="34" charset="-120"/>
              </a:rPr>
              <a:t>UNDERWATER ACOUSTICS  ·  SCIENTIFIC ECHO SOUNDING</a:t>
            </a:r>
            <a:endParaRPr lang="en-US" sz="1300" dirty="0"/>
          </a:p>
        </p:txBody>
      </p:sp>
      <p:sp>
        <p:nvSpPr>
          <p:cNvPr id="12" name="Text 10"/>
          <p:cNvSpPr/>
          <p:nvPr/>
        </p:nvSpPr>
        <p:spPr>
          <a:xfrm>
            <a:off x="777240" y="233172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Sound in Water</a:t>
            </a:r>
            <a:endParaRPr lang="en-US" sz="5400" dirty="0"/>
          </a:p>
        </p:txBody>
      </p:sp>
      <p:sp>
        <p:nvSpPr>
          <p:cNvPr id="13" name="Text 11"/>
          <p:cNvSpPr/>
          <p:nvPr/>
        </p:nvSpPr>
        <p:spPr>
          <a:xfrm>
            <a:off x="822960" y="3291840"/>
            <a:ext cx="10058400" cy="640080"/>
          </a:xfrm>
          <a:prstGeom prst="rect">
            <a:avLst/>
          </a:prstGeom>
          <a:noFill/>
          <a:ln/>
        </p:spPr>
        <p:txBody>
          <a:bodyPr wrap="square" lIns="0" tIns="0" rIns="0" bIns="0" rtlCol="0" anchor="ctr"/>
          <a:lstStyle/>
          <a:p>
            <a:pPr indent="0" marL="0">
              <a:buNone/>
            </a:pPr>
            <a:r>
              <a:rPr lang="en-US" sz="2400" i="1" dirty="0">
                <a:solidFill>
                  <a:srgbClr val="CFE6EF"/>
                </a:solidFill>
                <a:latin typeface="Cambria" pitchFamily="34" charset="0"/>
                <a:ea typeface="Cambria" pitchFamily="34" charset="-122"/>
                <a:cs typeface="Cambria" pitchFamily="34" charset="-120"/>
              </a:rPr>
              <a:t>and the Kongsberg EK80 Echo Sounder System</a:t>
            </a:r>
            <a:endParaRPr lang="en-US" sz="2400" dirty="0"/>
          </a:p>
        </p:txBody>
      </p:sp>
      <p:sp>
        <p:nvSpPr>
          <p:cNvPr id="14" name="Shape 12"/>
          <p:cNvSpPr/>
          <p:nvPr/>
        </p:nvSpPr>
        <p:spPr>
          <a:xfrm>
            <a:off x="822960" y="4160520"/>
            <a:ext cx="2377440" cy="0"/>
          </a:xfrm>
          <a:prstGeom prst="line">
            <a:avLst/>
          </a:prstGeom>
          <a:noFill/>
          <a:ln w="31750">
            <a:solidFill>
              <a:srgbClr val="E8985E"/>
            </a:solidFill>
            <a:prstDash val="solid"/>
          </a:ln>
        </p:spPr>
      </p:sp>
      <p:sp>
        <p:nvSpPr>
          <p:cNvPr id="15" name="Text 13"/>
          <p:cNvSpPr/>
          <p:nvPr/>
        </p:nvSpPr>
        <p:spPr>
          <a:xfrm>
            <a:off x="822960" y="4343400"/>
            <a:ext cx="8686800" cy="457200"/>
          </a:xfrm>
          <a:prstGeom prst="rect">
            <a:avLst/>
          </a:prstGeom>
          <a:noFill/>
          <a:ln/>
        </p:spPr>
        <p:txBody>
          <a:bodyPr wrap="square" rtlCol="0" anchor="ctr"/>
          <a:lstStyle/>
          <a:p>
            <a:pPr indent="0" marL="0">
              <a:buNone/>
            </a:pPr>
            <a:r>
              <a:rPr lang="en-US" sz="1400" dirty="0">
                <a:solidFill>
                  <a:srgbClr val="CFE6EF"/>
                </a:solidFill>
                <a:latin typeface="Calibri" pitchFamily="34" charset="0"/>
                <a:ea typeface="Calibri" pitchFamily="34" charset="-122"/>
                <a:cs typeface="Calibri" pitchFamily="34" charset="-120"/>
              </a:rPr>
              <a:t>From acoustic first principles to wideband, calibrated ocean sensing</a:t>
            </a:r>
            <a:endParaRPr lang="en-US" sz="1400" dirty="0"/>
          </a:p>
        </p:txBody>
      </p:sp>
      <p:sp>
        <p:nvSpPr>
          <p:cNvPr id="16" name="Text 14"/>
          <p:cNvSpPr/>
          <p:nvPr/>
        </p:nvSpPr>
        <p:spPr>
          <a:xfrm>
            <a:off x="822960" y="6263640"/>
            <a:ext cx="5486400" cy="320040"/>
          </a:xfrm>
          <a:prstGeom prst="rect">
            <a:avLst/>
          </a:prstGeom>
          <a:noFill/>
          <a:ln/>
        </p:spPr>
        <p:txBody>
          <a:bodyPr wrap="square" rtlCol="0" anchor="ctr"/>
          <a:lstStyle/>
          <a:p>
            <a:pPr indent="0" marL="0">
              <a:buNone/>
            </a:pPr>
            <a:r>
              <a:rPr lang="en-US" sz="1100" dirty="0">
                <a:solidFill>
                  <a:srgbClr val="5C7A90"/>
                </a:solidFill>
                <a:latin typeface="Calibri" pitchFamily="34" charset="0"/>
                <a:ea typeface="Calibri" pitchFamily="34" charset="-122"/>
                <a:cs typeface="Calibri" pitchFamily="34" charset="-120"/>
              </a:rPr>
              <a:t>Prepared as a technical briefing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PHYSICAL CASE FOR SOUND</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Why the ocean is explored with sound</a:t>
            </a:r>
            <a:endParaRPr lang="en-US" sz="3200" dirty="0"/>
          </a:p>
        </p:txBody>
      </p:sp>
      <p:sp>
        <p:nvSpPr>
          <p:cNvPr id="4" name="Text 2"/>
          <p:cNvSpPr/>
          <p:nvPr/>
        </p:nvSpPr>
        <p:spPr>
          <a:xfrm>
            <a:off x="548640" y="1600200"/>
            <a:ext cx="5120640" cy="2103120"/>
          </a:xfrm>
          <a:prstGeom prst="rect">
            <a:avLst/>
          </a:prstGeom>
          <a:noFill/>
          <a:ln/>
        </p:spPr>
        <p:txBody>
          <a:bodyPr wrap="square" rtlCol="0" anchor="ctr"/>
          <a:lstStyle/>
          <a:p>
            <a:pPr indent="0" marL="0">
              <a:lnSpc>
                <a:spcPct val="128000"/>
              </a:lnSpc>
              <a:buNone/>
            </a:pPr>
            <a:r>
              <a:rPr lang="en-US" sz="1400" dirty="0">
                <a:solidFill>
                  <a:srgbClr val="17232E"/>
                </a:solidFill>
                <a:latin typeface="Calibri" pitchFamily="34" charset="0"/>
                <a:ea typeface="Calibri" pitchFamily="34" charset="-122"/>
                <a:cs typeface="Calibri" pitchFamily="34" charset="-120"/>
              </a:rPr>
              <a:t>Electromagnetic waves — light, radar, radio — are absorbed by seawater within meters. Mechanical pressure waves (sound) travel through water with comparatively little loss, making acoustics the only practical way to sense range, depth and structure across an entire water column.</a:t>
            </a:r>
            <a:endParaRPr lang="en-US" sz="1400" dirty="0"/>
          </a:p>
        </p:txBody>
      </p:sp>
      <p:sp>
        <p:nvSpPr>
          <p:cNvPr id="5" name="Shape 3"/>
          <p:cNvSpPr/>
          <p:nvPr/>
        </p:nvSpPr>
        <p:spPr>
          <a:xfrm>
            <a:off x="548640" y="3886200"/>
            <a:ext cx="5120640" cy="1417320"/>
          </a:xfrm>
          <a:prstGeom prst="roundRect">
            <a:avLst>
              <a:gd name="adj" fmla="val 5161"/>
            </a:avLst>
          </a:prstGeom>
          <a:solidFill>
            <a:srgbClr val="FFFFFF"/>
          </a:solidFill>
          <a:ln w="12700">
            <a:solidFill>
              <a:srgbClr val="CFE6EF"/>
            </a:solidFill>
            <a:prstDash val="solid"/>
          </a:ln>
          <a:effectLst>
            <a:outerShdw sx="100000" sy="100000" kx="0" ky="0" algn="bl" rotWithShape="0" blurRad="76200" dist="25400" dir="5400000">
              <a:srgbClr val="1B2A38">
                <a:alpha val="12000"/>
              </a:srgbClr>
            </a:outerShdw>
          </a:effectLst>
        </p:spPr>
      </p:sp>
      <p:sp>
        <p:nvSpPr>
          <p:cNvPr id="6" name="Text 4"/>
          <p:cNvSpPr/>
          <p:nvPr/>
        </p:nvSpPr>
        <p:spPr>
          <a:xfrm>
            <a:off x="822960" y="4069080"/>
            <a:ext cx="4572000" cy="1051560"/>
          </a:xfrm>
          <a:prstGeom prst="rect">
            <a:avLst/>
          </a:prstGeom>
          <a:noFill/>
          <a:ln/>
        </p:spPr>
        <p:txBody>
          <a:bodyPr wrap="square" rtlCol="0" anchor="ctr"/>
          <a:lstStyle/>
          <a:p>
            <a:pPr indent="0" marL="0">
              <a:lnSpc>
                <a:spcPct val="125000"/>
              </a:lnSpc>
              <a:buNone/>
            </a:pPr>
            <a:r>
              <a:rPr lang="en-US" sz="1350" b="1" dirty="0">
                <a:solidFill>
                  <a:srgbClr val="21295C"/>
                </a:solidFill>
                <a:latin typeface="Calibri" pitchFamily="34" charset="0"/>
                <a:ea typeface="Calibri" pitchFamily="34" charset="-122"/>
                <a:cs typeface="Calibri" pitchFamily="34" charset="-120"/>
              </a:rPr>
              <a:t>Rule of thumb:  </a:t>
            </a:r>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light in seawater is useful to tens of meters; sound is useful to thousands.</a:t>
            </a:r>
            <a:endParaRPr lang="en-US" sz="1350" dirty="0"/>
          </a:p>
        </p:txBody>
      </p:sp>
      <p:sp>
        <p:nvSpPr>
          <p:cNvPr id="7" name="Shape 5"/>
          <p:cNvSpPr/>
          <p:nvPr/>
        </p:nvSpPr>
        <p:spPr>
          <a:xfrm>
            <a:off x="6400800" y="1600200"/>
            <a:ext cx="5212080" cy="3977640"/>
          </a:xfrm>
          <a:prstGeom prst="roundRect">
            <a:avLst>
              <a:gd name="adj" fmla="val 1839"/>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8" name="Text 6"/>
          <p:cNvSpPr/>
          <p:nvPr/>
        </p:nvSpPr>
        <p:spPr>
          <a:xfrm>
            <a:off x="6720840" y="1828800"/>
            <a:ext cx="4572000" cy="365760"/>
          </a:xfrm>
          <a:prstGeom prst="rect">
            <a:avLst/>
          </a:prstGeom>
          <a:noFill/>
          <a:ln/>
        </p:spPr>
        <p:txBody>
          <a:bodyPr wrap="square"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Usable sensing range in open ocean (illustrative)</a:t>
            </a:r>
            <a:endParaRPr lang="en-US" sz="1250" dirty="0"/>
          </a:p>
        </p:txBody>
      </p:sp>
      <p:graphicFrame>
        <p:nvGraphicFramePr>
          <p:cNvPr id="9" name="Chart 0" descr=""/>
          <p:cNvGraphicFramePr/>
          <p:nvPr/>
        </p:nvGraphicFramePr>
        <p:xfrm>
          <a:off x="6720840" y="2286000"/>
          <a:ext cx="457200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6720840" y="5193792"/>
            <a:ext cx="4572000" cy="292608"/>
          </a:xfrm>
          <a:prstGeom prst="rect">
            <a:avLst/>
          </a:prstGeom>
          <a:noFill/>
          <a:ln/>
        </p:spPr>
        <p:txBody>
          <a:bodyPr wrap="square" rtlCol="0" anchor="ctr"/>
          <a:lstStyle/>
          <a:p>
            <a:pPr indent="0" marL="0">
              <a:buNone/>
            </a:pPr>
            <a:r>
              <a:rPr lang="en-US" sz="950" i="1" dirty="0">
                <a:solidFill>
                  <a:srgbClr val="5C7A90"/>
                </a:solidFill>
                <a:latin typeface="Calibri" pitchFamily="34" charset="0"/>
                <a:ea typeface="Calibri" pitchFamily="34" charset="-122"/>
                <a:cs typeface="Calibri" pitchFamily="34" charset="-120"/>
              </a:rPr>
              <a:t>Log-scale effective range in meters — order-of-magnitude comparison, not a measurement.</a:t>
            </a:r>
            <a:endParaRPr lang="en-US" sz="950" dirty="0"/>
          </a:p>
        </p:txBody>
      </p:sp>
      <p:sp>
        <p:nvSpPr>
          <p:cNvPr id="11" name="Text 8"/>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ACOUSTIC FUNDAMENTALS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speed of sound is not constant</a:t>
            </a:r>
            <a:endParaRPr lang="en-US" sz="3200" dirty="0"/>
          </a:p>
        </p:txBody>
      </p:sp>
      <p:sp>
        <p:nvSpPr>
          <p:cNvPr id="4" name="Text 2"/>
          <p:cNvSpPr/>
          <p:nvPr/>
        </p:nvSpPr>
        <p:spPr>
          <a:xfrm>
            <a:off x="548640" y="1554480"/>
            <a:ext cx="6309360" cy="685800"/>
          </a:xfrm>
          <a:prstGeom prst="rect">
            <a:avLst/>
          </a:prstGeom>
          <a:noFill/>
          <a:ln/>
        </p:spPr>
        <p:txBody>
          <a:bodyPr wrap="square" rtlCol="0" anchor="ctr"/>
          <a:lstStyle/>
          <a:p>
            <a:pPr indent="0" marL="0">
              <a:lnSpc>
                <a:spcPct val="125000"/>
              </a:lnSpc>
              <a:buNone/>
            </a:pPr>
            <a:r>
              <a:rPr lang="en-US" sz="1400" dirty="0">
                <a:solidFill>
                  <a:srgbClr val="17232E"/>
                </a:solidFill>
                <a:latin typeface="Calibri" pitchFamily="34" charset="0"/>
                <a:ea typeface="Calibri" pitchFamily="34" charset="-122"/>
                <a:cs typeface="Calibri" pitchFamily="34" charset="-120"/>
              </a:rPr>
              <a:t>Sound travels through seawater roughly 4.3 times faster than through air. The exact speed at any point depends on three properties of the water itself:</a:t>
            </a:r>
            <a:endParaRPr lang="en-US" sz="1400" dirty="0"/>
          </a:p>
        </p:txBody>
      </p:sp>
      <p:sp>
        <p:nvSpPr>
          <p:cNvPr id="5" name="Shape 3"/>
          <p:cNvSpPr/>
          <p:nvPr/>
        </p:nvSpPr>
        <p:spPr>
          <a:xfrm>
            <a:off x="548640" y="2423160"/>
            <a:ext cx="512064" cy="512064"/>
          </a:xfrm>
          <a:prstGeom prst="ellipse">
            <a:avLst/>
          </a:prstGeom>
          <a:solidFill>
            <a:srgbClr val="065A82"/>
          </a:solidFill>
          <a:ln/>
        </p:spPr>
      </p:sp>
      <p:sp>
        <p:nvSpPr>
          <p:cNvPr id="6" name="Text 4"/>
          <p:cNvSpPr/>
          <p:nvPr/>
        </p:nvSpPr>
        <p:spPr>
          <a:xfrm>
            <a:off x="548640" y="240487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a:t>
            </a:r>
            <a:endParaRPr lang="en-US" sz="1800" dirty="0"/>
          </a:p>
        </p:txBody>
      </p:sp>
      <p:sp>
        <p:nvSpPr>
          <p:cNvPr id="7" name="Text 5"/>
          <p:cNvSpPr/>
          <p:nvPr/>
        </p:nvSpPr>
        <p:spPr>
          <a:xfrm>
            <a:off x="1234440" y="2368296"/>
            <a:ext cx="5394960" cy="292608"/>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Temperature</a:t>
            </a:r>
            <a:endParaRPr lang="en-US" sz="1450" dirty="0"/>
          </a:p>
        </p:txBody>
      </p:sp>
      <p:sp>
        <p:nvSpPr>
          <p:cNvPr id="8" name="Text 6"/>
          <p:cNvSpPr/>
          <p:nvPr/>
        </p:nvSpPr>
        <p:spPr>
          <a:xfrm>
            <a:off x="1234440" y="2660904"/>
            <a:ext cx="5394960" cy="502920"/>
          </a:xfrm>
          <a:prstGeom prst="rect">
            <a:avLst/>
          </a:prstGeom>
          <a:noFill/>
          <a:ln/>
        </p:spPr>
        <p:txBody>
          <a:bodyPr wrap="square" rtlCol="0" anchor="ctr"/>
          <a:lstStyle/>
          <a:p>
            <a:pPr indent="0" marL="0">
              <a:lnSpc>
                <a:spcPct val="115000"/>
              </a:lnSpc>
              <a:buNone/>
            </a:pPr>
            <a:r>
              <a:rPr lang="en-US" sz="1200" dirty="0">
                <a:solidFill>
                  <a:srgbClr val="17232E"/>
                </a:solidFill>
                <a:latin typeface="Calibri" pitchFamily="34" charset="0"/>
                <a:ea typeface="Calibri" pitchFamily="34" charset="-122"/>
                <a:cs typeface="Calibri" pitchFamily="34" charset="-120"/>
              </a:rPr>
              <a:t>The dominant factor near the surface — warmer water raises sound speed.</a:t>
            </a:r>
            <a:endParaRPr lang="en-US" sz="1200" dirty="0"/>
          </a:p>
        </p:txBody>
      </p:sp>
      <p:sp>
        <p:nvSpPr>
          <p:cNvPr id="9" name="Shape 7"/>
          <p:cNvSpPr/>
          <p:nvPr/>
        </p:nvSpPr>
        <p:spPr>
          <a:xfrm>
            <a:off x="548640" y="3474720"/>
            <a:ext cx="512064" cy="512064"/>
          </a:xfrm>
          <a:prstGeom prst="ellipse">
            <a:avLst/>
          </a:prstGeom>
          <a:solidFill>
            <a:srgbClr val="065A82"/>
          </a:solidFill>
          <a:ln/>
        </p:spPr>
      </p:sp>
      <p:sp>
        <p:nvSpPr>
          <p:cNvPr id="10" name="Text 8"/>
          <p:cNvSpPr/>
          <p:nvPr/>
        </p:nvSpPr>
        <p:spPr>
          <a:xfrm>
            <a:off x="548640" y="345643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11" name="Text 9"/>
          <p:cNvSpPr/>
          <p:nvPr/>
        </p:nvSpPr>
        <p:spPr>
          <a:xfrm>
            <a:off x="1234440" y="3419856"/>
            <a:ext cx="5394960" cy="292608"/>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Salinity</a:t>
            </a:r>
            <a:endParaRPr lang="en-US" sz="1450" dirty="0"/>
          </a:p>
        </p:txBody>
      </p:sp>
      <p:sp>
        <p:nvSpPr>
          <p:cNvPr id="12" name="Text 10"/>
          <p:cNvSpPr/>
          <p:nvPr/>
        </p:nvSpPr>
        <p:spPr>
          <a:xfrm>
            <a:off x="1234440" y="3712464"/>
            <a:ext cx="5394960" cy="502920"/>
          </a:xfrm>
          <a:prstGeom prst="rect">
            <a:avLst/>
          </a:prstGeom>
          <a:noFill/>
          <a:ln/>
        </p:spPr>
        <p:txBody>
          <a:bodyPr wrap="square" rtlCol="0" anchor="ctr"/>
          <a:lstStyle/>
          <a:p>
            <a:pPr indent="0" marL="0">
              <a:lnSpc>
                <a:spcPct val="115000"/>
              </a:lnSpc>
              <a:buNone/>
            </a:pPr>
            <a:r>
              <a:rPr lang="en-US" sz="1200" dirty="0">
                <a:solidFill>
                  <a:srgbClr val="17232E"/>
                </a:solidFill>
                <a:latin typeface="Calibri" pitchFamily="34" charset="0"/>
                <a:ea typeface="Calibri" pitchFamily="34" charset="-122"/>
                <a:cs typeface="Calibri" pitchFamily="34" charset="-120"/>
              </a:rPr>
              <a:t>Higher salt content increases density and stiffens the medium, raising speed.</a:t>
            </a:r>
            <a:endParaRPr lang="en-US" sz="1200" dirty="0"/>
          </a:p>
        </p:txBody>
      </p:sp>
      <p:sp>
        <p:nvSpPr>
          <p:cNvPr id="13" name="Shape 11"/>
          <p:cNvSpPr/>
          <p:nvPr/>
        </p:nvSpPr>
        <p:spPr>
          <a:xfrm>
            <a:off x="548640" y="4526280"/>
            <a:ext cx="512064" cy="512064"/>
          </a:xfrm>
          <a:prstGeom prst="ellipse">
            <a:avLst/>
          </a:prstGeom>
          <a:solidFill>
            <a:srgbClr val="065A82"/>
          </a:solidFill>
          <a:ln/>
        </p:spPr>
      </p:sp>
      <p:sp>
        <p:nvSpPr>
          <p:cNvPr id="14" name="Text 12"/>
          <p:cNvSpPr/>
          <p:nvPr/>
        </p:nvSpPr>
        <p:spPr>
          <a:xfrm>
            <a:off x="548640" y="450799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t>
            </a:r>
            <a:endParaRPr lang="en-US" sz="1800" dirty="0"/>
          </a:p>
        </p:txBody>
      </p:sp>
      <p:sp>
        <p:nvSpPr>
          <p:cNvPr id="15" name="Text 13"/>
          <p:cNvSpPr/>
          <p:nvPr/>
        </p:nvSpPr>
        <p:spPr>
          <a:xfrm>
            <a:off x="1234440" y="4471416"/>
            <a:ext cx="5394960" cy="292608"/>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Pressure / Depth</a:t>
            </a:r>
            <a:endParaRPr lang="en-US" sz="1450" dirty="0"/>
          </a:p>
        </p:txBody>
      </p:sp>
      <p:sp>
        <p:nvSpPr>
          <p:cNvPr id="16" name="Text 14"/>
          <p:cNvSpPr/>
          <p:nvPr/>
        </p:nvSpPr>
        <p:spPr>
          <a:xfrm>
            <a:off x="1234440" y="4764024"/>
            <a:ext cx="5394960" cy="502920"/>
          </a:xfrm>
          <a:prstGeom prst="rect">
            <a:avLst/>
          </a:prstGeom>
          <a:noFill/>
          <a:ln/>
        </p:spPr>
        <p:txBody>
          <a:bodyPr wrap="square" rtlCol="0" anchor="ctr"/>
          <a:lstStyle/>
          <a:p>
            <a:pPr indent="0" marL="0">
              <a:lnSpc>
                <a:spcPct val="115000"/>
              </a:lnSpc>
              <a:buNone/>
            </a:pPr>
            <a:r>
              <a:rPr lang="en-US" sz="1200" dirty="0">
                <a:solidFill>
                  <a:srgbClr val="17232E"/>
                </a:solidFill>
                <a:latin typeface="Calibri" pitchFamily="34" charset="0"/>
                <a:ea typeface="Calibri" pitchFamily="34" charset="-122"/>
                <a:cs typeface="Calibri" pitchFamily="34" charset="-120"/>
              </a:rPr>
              <a:t>Increasing pressure with depth compresses water and raises speed.</a:t>
            </a:r>
            <a:endParaRPr lang="en-US" sz="1200" dirty="0"/>
          </a:p>
        </p:txBody>
      </p:sp>
      <p:sp>
        <p:nvSpPr>
          <p:cNvPr id="17" name="Shape 15"/>
          <p:cNvSpPr/>
          <p:nvPr/>
        </p:nvSpPr>
        <p:spPr>
          <a:xfrm>
            <a:off x="7223760" y="1554480"/>
            <a:ext cx="4434840" cy="4434840"/>
          </a:xfrm>
          <a:prstGeom prst="roundRect">
            <a:avLst>
              <a:gd name="adj" fmla="val 2062"/>
            </a:avLst>
          </a:prstGeom>
          <a:solidFill>
            <a:srgbClr val="21295C"/>
          </a:solidFill>
          <a:ln/>
          <a:effectLst>
            <a:outerShdw sx="100000" sy="100000" kx="0" ky="0" algn="bl" rotWithShape="0" blurRad="127000" dist="38100" dir="5400000">
              <a:srgbClr val="1B2A38">
                <a:alpha val="20000"/>
              </a:srgbClr>
            </a:outerShdw>
          </a:effectLst>
        </p:spPr>
      </p:sp>
      <p:sp>
        <p:nvSpPr>
          <p:cNvPr id="18" name="Shape 16"/>
          <p:cNvSpPr/>
          <p:nvPr/>
        </p:nvSpPr>
        <p:spPr>
          <a:xfrm>
            <a:off x="10378440" y="1783080"/>
            <a:ext cx="457200" cy="457200"/>
          </a:xfrm>
          <a:prstGeom prst="ellipse">
            <a:avLst/>
          </a:prstGeom>
          <a:ln w="15875">
            <a:solidFill>
              <a:srgbClr val="1C7293">
                <a:alpha val="20000"/>
              </a:srgbClr>
            </a:solidFill>
            <a:prstDash val="solid"/>
          </a:ln>
        </p:spPr>
      </p:sp>
      <p:sp>
        <p:nvSpPr>
          <p:cNvPr id="19" name="Shape 17"/>
          <p:cNvSpPr/>
          <p:nvPr/>
        </p:nvSpPr>
        <p:spPr>
          <a:xfrm>
            <a:off x="10012680" y="1417320"/>
            <a:ext cx="1188720" cy="1188720"/>
          </a:xfrm>
          <a:prstGeom prst="ellipse">
            <a:avLst/>
          </a:prstGeom>
          <a:ln w="15875">
            <a:solidFill>
              <a:srgbClr val="1C7293">
                <a:alpha val="18000"/>
              </a:srgbClr>
            </a:solidFill>
            <a:prstDash val="solid"/>
          </a:ln>
        </p:spPr>
      </p:sp>
      <p:sp>
        <p:nvSpPr>
          <p:cNvPr id="20" name="Shape 18"/>
          <p:cNvSpPr/>
          <p:nvPr/>
        </p:nvSpPr>
        <p:spPr>
          <a:xfrm>
            <a:off x="9646920" y="1051560"/>
            <a:ext cx="1920240" cy="1920240"/>
          </a:xfrm>
          <a:prstGeom prst="ellipse">
            <a:avLst/>
          </a:prstGeom>
          <a:ln w="15875">
            <a:solidFill>
              <a:srgbClr val="1C7293">
                <a:alpha val="16000"/>
              </a:srgbClr>
            </a:solidFill>
            <a:prstDash val="solid"/>
          </a:ln>
        </p:spPr>
      </p:sp>
      <p:sp>
        <p:nvSpPr>
          <p:cNvPr id="21" name="Text 19"/>
          <p:cNvSpPr/>
          <p:nvPr/>
        </p:nvSpPr>
        <p:spPr>
          <a:xfrm>
            <a:off x="7498080" y="1828800"/>
            <a:ext cx="3840480" cy="292608"/>
          </a:xfrm>
          <a:prstGeom prst="rect">
            <a:avLst/>
          </a:prstGeom>
          <a:noFill/>
          <a:ln/>
        </p:spPr>
        <p:txBody>
          <a:bodyPr wrap="square" rtlCol="0" anchor="ctr"/>
          <a:lstStyle/>
          <a:p>
            <a:pPr indent="0" marL="0">
              <a:buNone/>
            </a:pPr>
            <a:r>
              <a:rPr lang="en-US" sz="1100" b="1" spc="200" kern="0" dirty="0">
                <a:solidFill>
                  <a:srgbClr val="E8985E"/>
                </a:solidFill>
                <a:latin typeface="Calibri" pitchFamily="34" charset="0"/>
                <a:ea typeface="Calibri" pitchFamily="34" charset="-122"/>
                <a:cs typeface="Calibri" pitchFamily="34" charset="-120"/>
              </a:rPr>
              <a:t>TYPICAL VALUE</a:t>
            </a:r>
            <a:endParaRPr lang="en-US" sz="1100" dirty="0"/>
          </a:p>
        </p:txBody>
      </p:sp>
      <p:sp>
        <p:nvSpPr>
          <p:cNvPr id="22" name="Text 20"/>
          <p:cNvSpPr/>
          <p:nvPr/>
        </p:nvSpPr>
        <p:spPr>
          <a:xfrm>
            <a:off x="7452360" y="2103120"/>
            <a:ext cx="3931920" cy="100584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~1,500</a:t>
            </a:r>
            <a:endParaRPr lang="en-US" sz="5800" dirty="0"/>
          </a:p>
        </p:txBody>
      </p:sp>
      <p:sp>
        <p:nvSpPr>
          <p:cNvPr id="23" name="Text 21"/>
          <p:cNvSpPr/>
          <p:nvPr/>
        </p:nvSpPr>
        <p:spPr>
          <a:xfrm>
            <a:off x="7498080" y="3063240"/>
            <a:ext cx="3931920" cy="548640"/>
          </a:xfrm>
          <a:prstGeom prst="rect">
            <a:avLst/>
          </a:prstGeom>
          <a:noFill/>
          <a:ln/>
        </p:spPr>
        <p:txBody>
          <a:bodyPr wrap="square" rtlCol="0" anchor="ctr"/>
          <a:lstStyle/>
          <a:p>
            <a:pPr indent="0" marL="0">
              <a:lnSpc>
                <a:spcPct val="120000"/>
              </a:lnSpc>
              <a:buNone/>
            </a:pPr>
            <a:r>
              <a:rPr lang="en-US" sz="1250" dirty="0">
                <a:solidFill>
                  <a:srgbClr val="CFE6EF"/>
                </a:solidFill>
                <a:latin typeface="Calibri" pitchFamily="34" charset="0"/>
                <a:ea typeface="Calibri" pitchFamily="34" charset="-122"/>
                <a:cs typeface="Calibri" pitchFamily="34" charset="-120"/>
              </a:rPr>
              <a:t>metres per second, near-surface ocean water</a:t>
            </a:r>
            <a:endParaRPr lang="en-US" sz="1250" dirty="0"/>
          </a:p>
        </p:txBody>
      </p:sp>
      <p:sp>
        <p:nvSpPr>
          <p:cNvPr id="24" name="Shape 22"/>
          <p:cNvSpPr/>
          <p:nvPr/>
        </p:nvSpPr>
        <p:spPr>
          <a:xfrm>
            <a:off x="7498080" y="3794760"/>
            <a:ext cx="3886200" cy="0"/>
          </a:xfrm>
          <a:prstGeom prst="line">
            <a:avLst/>
          </a:prstGeom>
          <a:noFill/>
          <a:ln w="12700">
            <a:solidFill>
              <a:srgbClr val="1C7293">
                <a:alpha val="60000"/>
              </a:srgbClr>
            </a:solidFill>
            <a:prstDash val="solid"/>
          </a:ln>
        </p:spPr>
      </p:sp>
      <p:sp>
        <p:nvSpPr>
          <p:cNvPr id="25" name="Text 23"/>
          <p:cNvSpPr/>
          <p:nvPr/>
        </p:nvSpPr>
        <p:spPr>
          <a:xfrm>
            <a:off x="7498080" y="3977640"/>
            <a:ext cx="3931920" cy="320040"/>
          </a:xfrm>
          <a:prstGeom prst="rect">
            <a:avLst/>
          </a:prstGeom>
          <a:noFill/>
          <a:ln/>
        </p:spPr>
        <p:txBody>
          <a:bodyPr wrap="square" rtlCol="0" anchor="ctr"/>
          <a:lstStyle/>
          <a:p>
            <a:pPr indent="0" marL="0">
              <a:buNone/>
            </a:pPr>
            <a:r>
              <a:rPr lang="en-US" sz="1150" dirty="0">
                <a:solidFill>
                  <a:srgbClr val="CFE6EF"/>
                </a:solidFill>
                <a:latin typeface="Calibri" pitchFamily="34" charset="0"/>
                <a:ea typeface="Calibri" pitchFamily="34" charset="-122"/>
                <a:cs typeface="Calibri" pitchFamily="34" charset="-120"/>
              </a:rPr>
              <a:t>A widely used approximation (Mackenzie, 1981):</a:t>
            </a:r>
            <a:endParaRPr lang="en-US" sz="1150" dirty="0"/>
          </a:p>
        </p:txBody>
      </p:sp>
      <p:sp>
        <p:nvSpPr>
          <p:cNvPr id="26" name="Text 24"/>
          <p:cNvSpPr/>
          <p:nvPr/>
        </p:nvSpPr>
        <p:spPr>
          <a:xfrm>
            <a:off x="7498080" y="4315968"/>
            <a:ext cx="3977640" cy="685800"/>
          </a:xfrm>
          <a:prstGeom prst="rect">
            <a:avLst/>
          </a:prstGeom>
          <a:noFill/>
          <a:ln/>
        </p:spPr>
        <p:txBody>
          <a:bodyPr wrap="square" rtlCol="0" anchor="ctr"/>
          <a:lstStyle/>
          <a:p>
            <a:pPr indent="0" marL="0">
              <a:lnSpc>
                <a:spcPct val="120000"/>
              </a:lnSpc>
              <a:buNone/>
            </a:pPr>
            <a:r>
              <a:rPr lang="en-US" sz="1250" dirty="0">
                <a:solidFill>
                  <a:srgbClr val="FFFFFF"/>
                </a:solidFill>
                <a:latin typeface="Consolas" pitchFamily="34" charset="0"/>
                <a:ea typeface="Consolas" pitchFamily="34" charset="-122"/>
                <a:cs typeface="Consolas" pitchFamily="34" charset="-120"/>
              </a:rPr>
              <a:t>c ≈ 1449.2 + 4.6T − 0.055T² + 1.39(S−35) + 0.017D</a:t>
            </a:r>
            <a:endParaRPr lang="en-US" sz="1250" dirty="0"/>
          </a:p>
        </p:txBody>
      </p:sp>
      <p:sp>
        <p:nvSpPr>
          <p:cNvPr id="27" name="Text 25"/>
          <p:cNvSpPr/>
          <p:nvPr/>
        </p:nvSpPr>
        <p:spPr>
          <a:xfrm>
            <a:off x="7498080" y="5074920"/>
            <a:ext cx="3931920" cy="548640"/>
          </a:xfrm>
          <a:prstGeom prst="rect">
            <a:avLst/>
          </a:prstGeom>
          <a:noFill/>
          <a:ln/>
        </p:spPr>
        <p:txBody>
          <a:bodyPr wrap="square" rtlCol="0" anchor="ctr"/>
          <a:lstStyle/>
          <a:p>
            <a:pPr indent="0" marL="0">
              <a:lnSpc>
                <a:spcPct val="120000"/>
              </a:lnSpc>
              <a:buNone/>
            </a:pPr>
            <a:r>
              <a:rPr lang="en-US" sz="1000" dirty="0">
                <a:solidFill>
                  <a:srgbClr val="5C7A90"/>
                </a:solidFill>
                <a:latin typeface="Calibri" pitchFamily="34" charset="0"/>
                <a:ea typeface="Calibri" pitchFamily="34" charset="-122"/>
                <a:cs typeface="Calibri" pitchFamily="34" charset="-120"/>
              </a:rPr>
              <a:t>T = temperature (°C)   S = salinity (PSU)   D = depth (m)</a:t>
            </a:r>
            <a:endParaRPr lang="en-US" sz="1000" dirty="0"/>
          </a:p>
        </p:txBody>
      </p:sp>
      <p:sp>
        <p:nvSpPr>
          <p:cNvPr id="28" name="Text 26"/>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ACOUSTIC FUNDAMENTALS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A layered ocean bends sound rays</a:t>
            </a:r>
            <a:endParaRPr lang="en-US" sz="3200" dirty="0"/>
          </a:p>
        </p:txBody>
      </p:sp>
      <p:sp>
        <p:nvSpPr>
          <p:cNvPr id="4" name="Text 2"/>
          <p:cNvSpPr/>
          <p:nvPr/>
        </p:nvSpPr>
        <p:spPr>
          <a:xfrm>
            <a:off x="548640" y="1600200"/>
            <a:ext cx="10789920" cy="868680"/>
          </a:xfrm>
          <a:prstGeom prst="rect">
            <a:avLst/>
          </a:prstGeom>
          <a:noFill/>
          <a:ln/>
        </p:spPr>
        <p:txBody>
          <a:bodyPr wrap="square" rtlCol="0" anchor="ctr"/>
          <a:lstStyle/>
          <a:p>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Because sound speed varies with depth, acoustic rays refract toward slower-speed layers — just as light bends between media. The resulting sound-speed profile (SSP) determines how far and in what direction acoustic energy actually travels, and must be measured to correct echosounder ranges.</a:t>
            </a:r>
            <a:endParaRPr lang="en-US" sz="1350" dirty="0"/>
          </a:p>
        </p:txBody>
      </p:sp>
      <p:sp>
        <p:nvSpPr>
          <p:cNvPr id="5" name="Shape 3"/>
          <p:cNvSpPr/>
          <p:nvPr/>
        </p:nvSpPr>
        <p:spPr>
          <a:xfrm>
            <a:off x="548640" y="2697480"/>
            <a:ext cx="5394960" cy="3703320"/>
          </a:xfrm>
          <a:prstGeom prst="roundRect">
            <a:avLst>
              <a:gd name="adj" fmla="val 1975"/>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6" name="Text 4"/>
          <p:cNvSpPr/>
          <p:nvPr/>
        </p:nvSpPr>
        <p:spPr>
          <a:xfrm>
            <a:off x="822960" y="2880360"/>
            <a:ext cx="4846320" cy="320040"/>
          </a:xfrm>
          <a:prstGeom prst="rect">
            <a:avLst/>
          </a:prstGeom>
          <a:noFill/>
          <a:ln/>
        </p:spPr>
        <p:txBody>
          <a:bodyPr wrap="square"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Typical mid-latitude sound-speed profile</a:t>
            </a:r>
            <a:endParaRPr lang="en-US" sz="1250" dirty="0"/>
          </a:p>
        </p:txBody>
      </p:sp>
      <p:graphicFrame>
        <p:nvGraphicFramePr>
          <p:cNvPr id="7" name="Chart 0" descr=""/>
          <p:cNvGraphicFramePr/>
          <p:nvPr/>
        </p:nvGraphicFramePr>
        <p:xfrm>
          <a:off x="822960" y="3291840"/>
          <a:ext cx="4846320" cy="26517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309360" y="2697480"/>
            <a:ext cx="5349240" cy="1170432"/>
          </a:xfrm>
          <a:prstGeom prst="roundRect">
            <a:avLst>
              <a:gd name="adj" fmla="val 6250"/>
            </a:avLst>
          </a:prstGeom>
          <a:solidFill>
            <a:srgbClr val="FFFFFF"/>
          </a:solidFill>
          <a:ln w="12700">
            <a:solidFill>
              <a:srgbClr val="CFE6EF"/>
            </a:solidFill>
            <a:prstDash val="solid"/>
          </a:ln>
        </p:spPr>
      </p:sp>
      <p:sp>
        <p:nvSpPr>
          <p:cNvPr id="9" name="Shape 6"/>
          <p:cNvSpPr/>
          <p:nvPr/>
        </p:nvSpPr>
        <p:spPr>
          <a:xfrm>
            <a:off x="6510528" y="2916936"/>
            <a:ext cx="457200" cy="457200"/>
          </a:xfrm>
          <a:prstGeom prst="ellipse">
            <a:avLst/>
          </a:prstGeom>
          <a:solidFill>
            <a:srgbClr val="1C7293"/>
          </a:solidFill>
          <a:ln/>
        </p:spPr>
      </p:sp>
      <p:sp>
        <p:nvSpPr>
          <p:cNvPr id="10" name="Text 7"/>
          <p:cNvSpPr/>
          <p:nvPr/>
        </p:nvSpPr>
        <p:spPr>
          <a:xfrm>
            <a:off x="6510528" y="28986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7132320" y="2825496"/>
            <a:ext cx="434340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Mixed layer</a:t>
            </a:r>
            <a:endParaRPr lang="en-US" sz="1350" dirty="0"/>
          </a:p>
        </p:txBody>
      </p:sp>
      <p:sp>
        <p:nvSpPr>
          <p:cNvPr id="12" name="Text 9"/>
          <p:cNvSpPr/>
          <p:nvPr/>
        </p:nvSpPr>
        <p:spPr>
          <a:xfrm>
            <a:off x="7132320" y="3118104"/>
            <a:ext cx="4343400" cy="685800"/>
          </a:xfrm>
          <a:prstGeom prst="rect">
            <a:avLst/>
          </a:prstGeom>
          <a:noFill/>
          <a:ln/>
        </p:spPr>
        <p:txBody>
          <a:bodyPr wrap="square" rtlCol="0" anchor="ctr"/>
          <a:lstStyle/>
          <a:p>
            <a:pPr indent="0" marL="0">
              <a:lnSpc>
                <a:spcPct val="118000"/>
              </a:lnSpc>
              <a:buNone/>
            </a:pPr>
            <a:r>
              <a:rPr lang="en-US" sz="1100" dirty="0">
                <a:solidFill>
                  <a:srgbClr val="17232E"/>
                </a:solidFill>
                <a:latin typeface="Calibri" pitchFamily="34" charset="0"/>
                <a:ea typeface="Calibri" pitchFamily="34" charset="-122"/>
                <a:cs typeface="Calibri" pitchFamily="34" charset="-120"/>
              </a:rPr>
              <a:t>Near-uniform speed; wind-mixed, can trap sound near the surface (surface duct).</a:t>
            </a:r>
            <a:endParaRPr lang="en-US" sz="1100" dirty="0"/>
          </a:p>
        </p:txBody>
      </p:sp>
      <p:sp>
        <p:nvSpPr>
          <p:cNvPr id="13" name="Shape 10"/>
          <p:cNvSpPr/>
          <p:nvPr/>
        </p:nvSpPr>
        <p:spPr>
          <a:xfrm>
            <a:off x="6309360" y="3995928"/>
            <a:ext cx="5349240" cy="1170432"/>
          </a:xfrm>
          <a:prstGeom prst="roundRect">
            <a:avLst>
              <a:gd name="adj" fmla="val 6250"/>
            </a:avLst>
          </a:prstGeom>
          <a:solidFill>
            <a:srgbClr val="FFFFFF"/>
          </a:solidFill>
          <a:ln w="12700">
            <a:solidFill>
              <a:srgbClr val="CFE6EF"/>
            </a:solidFill>
            <a:prstDash val="solid"/>
          </a:ln>
        </p:spPr>
      </p:sp>
      <p:sp>
        <p:nvSpPr>
          <p:cNvPr id="14" name="Shape 11"/>
          <p:cNvSpPr/>
          <p:nvPr/>
        </p:nvSpPr>
        <p:spPr>
          <a:xfrm>
            <a:off x="6510528" y="4215384"/>
            <a:ext cx="457200" cy="457200"/>
          </a:xfrm>
          <a:prstGeom prst="ellipse">
            <a:avLst/>
          </a:prstGeom>
          <a:solidFill>
            <a:srgbClr val="E8985E"/>
          </a:solidFill>
          <a:ln/>
        </p:spPr>
      </p:sp>
      <p:sp>
        <p:nvSpPr>
          <p:cNvPr id="15" name="Text 12"/>
          <p:cNvSpPr/>
          <p:nvPr/>
        </p:nvSpPr>
        <p:spPr>
          <a:xfrm>
            <a:off x="6510528" y="4197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7132320" y="4123944"/>
            <a:ext cx="434340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Thermocline</a:t>
            </a:r>
            <a:endParaRPr lang="en-US" sz="1350" dirty="0"/>
          </a:p>
        </p:txBody>
      </p:sp>
      <p:sp>
        <p:nvSpPr>
          <p:cNvPr id="17" name="Text 14"/>
          <p:cNvSpPr/>
          <p:nvPr/>
        </p:nvSpPr>
        <p:spPr>
          <a:xfrm>
            <a:off x="7132320" y="4416552"/>
            <a:ext cx="4343400" cy="685800"/>
          </a:xfrm>
          <a:prstGeom prst="rect">
            <a:avLst/>
          </a:prstGeom>
          <a:noFill/>
          <a:ln/>
        </p:spPr>
        <p:txBody>
          <a:bodyPr wrap="square" rtlCol="0" anchor="ctr"/>
          <a:lstStyle/>
          <a:p>
            <a:pPr indent="0" marL="0">
              <a:lnSpc>
                <a:spcPct val="118000"/>
              </a:lnSpc>
              <a:buNone/>
            </a:pPr>
            <a:r>
              <a:rPr lang="en-US" sz="1100" dirty="0">
                <a:solidFill>
                  <a:srgbClr val="17232E"/>
                </a:solidFill>
                <a:latin typeface="Calibri" pitchFamily="34" charset="0"/>
                <a:ea typeface="Calibri" pitchFamily="34" charset="-122"/>
                <a:cs typeface="Calibri" pitchFamily="34" charset="-120"/>
              </a:rPr>
              <a:t>Temperature falls quickly with depth, so speed falls quickly — rays refract downward.</a:t>
            </a:r>
            <a:endParaRPr lang="en-US" sz="1100" dirty="0"/>
          </a:p>
        </p:txBody>
      </p:sp>
      <p:sp>
        <p:nvSpPr>
          <p:cNvPr id="18" name="Shape 15"/>
          <p:cNvSpPr/>
          <p:nvPr/>
        </p:nvSpPr>
        <p:spPr>
          <a:xfrm>
            <a:off x="6309360" y="5294376"/>
            <a:ext cx="5349240" cy="1170432"/>
          </a:xfrm>
          <a:prstGeom prst="roundRect">
            <a:avLst>
              <a:gd name="adj" fmla="val 6250"/>
            </a:avLst>
          </a:prstGeom>
          <a:solidFill>
            <a:srgbClr val="FFFFFF"/>
          </a:solidFill>
          <a:ln w="12700">
            <a:solidFill>
              <a:srgbClr val="CFE6EF"/>
            </a:solidFill>
            <a:prstDash val="solid"/>
          </a:ln>
        </p:spPr>
      </p:sp>
      <p:sp>
        <p:nvSpPr>
          <p:cNvPr id="19" name="Shape 16"/>
          <p:cNvSpPr/>
          <p:nvPr/>
        </p:nvSpPr>
        <p:spPr>
          <a:xfrm>
            <a:off x="6510528" y="5513832"/>
            <a:ext cx="457200" cy="457200"/>
          </a:xfrm>
          <a:prstGeom prst="ellipse">
            <a:avLst/>
          </a:prstGeom>
          <a:solidFill>
            <a:srgbClr val="065A82"/>
          </a:solidFill>
          <a:ln/>
        </p:spPr>
      </p:sp>
      <p:sp>
        <p:nvSpPr>
          <p:cNvPr id="20" name="Text 17"/>
          <p:cNvSpPr/>
          <p:nvPr/>
        </p:nvSpPr>
        <p:spPr>
          <a:xfrm>
            <a:off x="6510528" y="5495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7132320" y="5422392"/>
            <a:ext cx="434340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Deep isothermal layer</a:t>
            </a:r>
            <a:endParaRPr lang="en-US" sz="1350" dirty="0"/>
          </a:p>
        </p:txBody>
      </p:sp>
      <p:sp>
        <p:nvSpPr>
          <p:cNvPr id="22" name="Text 19"/>
          <p:cNvSpPr/>
          <p:nvPr/>
        </p:nvSpPr>
        <p:spPr>
          <a:xfrm>
            <a:off x="7132320" y="5715000"/>
            <a:ext cx="4343400" cy="685800"/>
          </a:xfrm>
          <a:prstGeom prst="rect">
            <a:avLst/>
          </a:prstGeom>
          <a:noFill/>
          <a:ln/>
        </p:spPr>
        <p:txBody>
          <a:bodyPr wrap="square" rtlCol="0" anchor="ctr"/>
          <a:lstStyle/>
          <a:p>
            <a:pPr indent="0" marL="0">
              <a:lnSpc>
                <a:spcPct val="118000"/>
              </a:lnSpc>
              <a:buNone/>
            </a:pPr>
            <a:r>
              <a:rPr lang="en-US" sz="1100" dirty="0">
                <a:solidFill>
                  <a:srgbClr val="17232E"/>
                </a:solidFill>
                <a:latin typeface="Calibri" pitchFamily="34" charset="0"/>
                <a:ea typeface="Calibri" pitchFamily="34" charset="-122"/>
                <a:cs typeface="Calibri" pitchFamily="34" charset="-120"/>
              </a:rPr>
              <a:t>Below the thermocline, temperature stabilizes and rising pressure slowly increases speed again — forming the deep sound (SOFAR) channel minimum.</a:t>
            </a:r>
            <a:endParaRPr lang="en-US" sz="1100" dirty="0"/>
          </a:p>
        </p:txBody>
      </p:sp>
      <p:sp>
        <p:nvSpPr>
          <p:cNvPr id="23" name="Text 20"/>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ACOUSTIC FUNDAMENTALS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Higher frequency, shorter reach</a:t>
            </a:r>
            <a:endParaRPr lang="en-US" sz="3200" dirty="0"/>
          </a:p>
        </p:txBody>
      </p:sp>
      <p:sp>
        <p:nvSpPr>
          <p:cNvPr id="4" name="Text 2"/>
          <p:cNvSpPr/>
          <p:nvPr/>
        </p:nvSpPr>
        <p:spPr>
          <a:xfrm>
            <a:off x="548640" y="1554480"/>
            <a:ext cx="5029200" cy="2286000"/>
          </a:xfrm>
          <a:prstGeom prst="rect">
            <a:avLst/>
          </a:prstGeom>
          <a:noFill/>
          <a:ln/>
        </p:spPr>
        <p:txBody>
          <a:bodyPr wrap="square" rtlCol="0" anchor="ctr"/>
          <a:lstStyle/>
          <a:p>
            <a:pPr indent="0" marL="0">
              <a:lnSpc>
                <a:spcPct val="128000"/>
              </a:lnSpc>
              <a:buNone/>
            </a:pPr>
            <a:r>
              <a:rPr lang="en-US" sz="1400" dirty="0">
                <a:solidFill>
                  <a:srgbClr val="17232E"/>
                </a:solidFill>
                <a:latin typeface="Calibri" pitchFamily="34" charset="0"/>
                <a:ea typeface="Calibri" pitchFamily="34" charset="-122"/>
                <a:cs typeface="Calibri" pitchFamily="34" charset="-120"/>
              </a:rPr>
              <a:t>Seawater absorbs acoustic energy through chemical relaxation and viscosity, and absorption rises steeply with frequency. This is the central trade-off in echosounder design: low frequencies travel far with coarse resolution; high frequencies resolve fine detail over short range.</a:t>
            </a:r>
            <a:endParaRPr lang="en-US" sz="1400" dirty="0"/>
          </a:p>
        </p:txBody>
      </p:sp>
      <p:sp>
        <p:nvSpPr>
          <p:cNvPr id="5" name="Shape 3"/>
          <p:cNvSpPr/>
          <p:nvPr/>
        </p:nvSpPr>
        <p:spPr>
          <a:xfrm>
            <a:off x="548640" y="3977640"/>
            <a:ext cx="5029200" cy="1371600"/>
          </a:xfrm>
          <a:prstGeom prst="roundRect">
            <a:avLst>
              <a:gd name="adj" fmla="val 5333"/>
            </a:avLst>
          </a:prstGeom>
          <a:solidFill>
            <a:srgbClr val="21295C"/>
          </a:solidFill>
          <a:ln/>
        </p:spPr>
      </p:sp>
      <p:sp>
        <p:nvSpPr>
          <p:cNvPr id="6" name="Text 4"/>
          <p:cNvSpPr/>
          <p:nvPr/>
        </p:nvSpPr>
        <p:spPr>
          <a:xfrm>
            <a:off x="822960" y="4160520"/>
            <a:ext cx="4480560" cy="1005840"/>
          </a:xfrm>
          <a:prstGeom prst="rect">
            <a:avLst/>
          </a:prstGeom>
          <a:noFill/>
          <a:ln/>
        </p:spPr>
        <p:txBody>
          <a:bodyPr wrap="square" rtlCol="0" anchor="ctr"/>
          <a:lstStyle/>
          <a:p>
            <a:pPr indent="0" marL="0">
              <a:lnSpc>
                <a:spcPct val="125000"/>
              </a:lnSpc>
              <a:buNone/>
            </a:pPr>
            <a:r>
              <a:rPr lang="en-US" sz="1300" b="1" dirty="0">
                <a:solidFill>
                  <a:srgbClr val="E8985E"/>
                </a:solidFill>
                <a:latin typeface="Calibri" pitchFamily="34" charset="0"/>
                <a:ea typeface="Calibri" pitchFamily="34" charset="-122"/>
                <a:cs typeface="Calibri" pitchFamily="34" charset="-120"/>
              </a:rPr>
              <a:t>Design consequence:  </a:t>
            </a:r>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EK80 spans 10–500 kHz precisely so operators can trade range against resolution by choosing frequency.</a:t>
            </a:r>
            <a:endParaRPr lang="en-US" sz="1300" dirty="0"/>
          </a:p>
        </p:txBody>
      </p:sp>
      <p:sp>
        <p:nvSpPr>
          <p:cNvPr id="7" name="Shape 5"/>
          <p:cNvSpPr/>
          <p:nvPr/>
        </p:nvSpPr>
        <p:spPr>
          <a:xfrm>
            <a:off x="6035040" y="1554480"/>
            <a:ext cx="5577840" cy="3794760"/>
          </a:xfrm>
          <a:prstGeom prst="roundRect">
            <a:avLst>
              <a:gd name="adj" fmla="val 1928"/>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8" name="Text 6"/>
          <p:cNvSpPr/>
          <p:nvPr/>
        </p:nvSpPr>
        <p:spPr>
          <a:xfrm>
            <a:off x="6309360" y="1737360"/>
            <a:ext cx="5029200" cy="502920"/>
          </a:xfrm>
          <a:prstGeom prst="rect">
            <a:avLst/>
          </a:prstGeom>
          <a:noFill/>
          <a:ln/>
        </p:spPr>
        <p:txBody>
          <a:bodyPr wrap="square" rtlCol="0" anchor="ctr"/>
          <a:lstStyle/>
          <a:p>
            <a:pPr indent="0" marL="0">
              <a:lnSpc>
                <a:spcPct val="110000"/>
              </a:lnSpc>
              <a:buNone/>
            </a:pPr>
            <a:r>
              <a:rPr lang="en-US" sz="1250" b="1" dirty="0">
                <a:solidFill>
                  <a:srgbClr val="21295C"/>
                </a:solidFill>
                <a:latin typeface="Calibri" pitchFamily="34" charset="0"/>
                <a:ea typeface="Calibri" pitchFamily="34" charset="-122"/>
                <a:cs typeface="Calibri" pitchFamily="34" charset="-120"/>
              </a:rPr>
              <a:t>Absorption coefficient vs. frequency (illustrative, seawater)</a:t>
            </a:r>
            <a:endParaRPr lang="en-US" sz="1250" dirty="0"/>
          </a:p>
        </p:txBody>
      </p:sp>
      <p:graphicFrame>
        <p:nvGraphicFramePr>
          <p:cNvPr id="9" name="Chart 0" descr=""/>
          <p:cNvGraphicFramePr/>
          <p:nvPr/>
        </p:nvGraphicFramePr>
        <p:xfrm>
          <a:off x="6309360" y="2331720"/>
          <a:ext cx="5029200" cy="26060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ACOUSTIC FUNDAMENTALS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Two losses shrink every echo</a:t>
            </a:r>
            <a:endParaRPr lang="en-US" sz="3200" dirty="0"/>
          </a:p>
        </p:txBody>
      </p:sp>
      <p:sp>
        <p:nvSpPr>
          <p:cNvPr id="4" name="Text 2"/>
          <p:cNvSpPr/>
          <p:nvPr/>
        </p:nvSpPr>
        <p:spPr>
          <a:xfrm>
            <a:off x="548640" y="1600200"/>
            <a:ext cx="10789920" cy="777240"/>
          </a:xfrm>
          <a:prstGeom prst="rect">
            <a:avLst/>
          </a:prstGeom>
          <a:noFill/>
          <a:ln/>
        </p:spPr>
        <p:txBody>
          <a:bodyPr wrap="square" rtlCol="0" anchor="ctr"/>
          <a:lstStyle/>
          <a:p>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As a pulse travels out and its echo returns, energy is lost twice over: geometric spreading as the wavefront expands, and absorption as the medium dissipates energy to heat. Together these define the sonar equation's transmission loss term.</a:t>
            </a:r>
            <a:endParaRPr lang="en-US" sz="1350" dirty="0"/>
          </a:p>
        </p:txBody>
      </p:sp>
      <p:sp>
        <p:nvSpPr>
          <p:cNvPr id="5" name="Shape 3"/>
          <p:cNvSpPr/>
          <p:nvPr/>
        </p:nvSpPr>
        <p:spPr>
          <a:xfrm>
            <a:off x="548640" y="2606040"/>
            <a:ext cx="5029200" cy="3840480"/>
          </a:xfrm>
          <a:prstGeom prst="roundRect">
            <a:avLst>
              <a:gd name="adj" fmla="val 1905"/>
            </a:avLst>
          </a:prstGeom>
          <a:solidFill>
            <a:srgbClr val="21295C"/>
          </a:solidFill>
          <a:ln/>
        </p:spPr>
      </p:sp>
      <p:sp>
        <p:nvSpPr>
          <p:cNvPr id="6" name="Shape 4"/>
          <p:cNvSpPr/>
          <p:nvPr/>
        </p:nvSpPr>
        <p:spPr>
          <a:xfrm>
            <a:off x="2761488" y="4178808"/>
            <a:ext cx="512064" cy="512064"/>
          </a:xfrm>
          <a:prstGeom prst="ellipse">
            <a:avLst/>
          </a:prstGeom>
          <a:ln w="15875">
            <a:solidFill>
              <a:srgbClr val="CFE6EF">
                <a:alpha val="24000"/>
              </a:srgbClr>
            </a:solidFill>
            <a:prstDash val="solid"/>
          </a:ln>
        </p:spPr>
      </p:sp>
      <p:sp>
        <p:nvSpPr>
          <p:cNvPr id="7" name="Shape 5"/>
          <p:cNvSpPr/>
          <p:nvPr/>
        </p:nvSpPr>
        <p:spPr>
          <a:xfrm>
            <a:off x="2377440" y="3794760"/>
            <a:ext cx="1280160" cy="1280160"/>
          </a:xfrm>
          <a:prstGeom prst="ellipse">
            <a:avLst/>
          </a:prstGeom>
          <a:ln w="15875">
            <a:solidFill>
              <a:srgbClr val="CFE6EF">
                <a:alpha val="22000"/>
              </a:srgbClr>
            </a:solidFill>
            <a:prstDash val="solid"/>
          </a:ln>
        </p:spPr>
      </p:sp>
      <p:sp>
        <p:nvSpPr>
          <p:cNvPr id="8" name="Shape 6"/>
          <p:cNvSpPr/>
          <p:nvPr/>
        </p:nvSpPr>
        <p:spPr>
          <a:xfrm>
            <a:off x="1993392" y="3410712"/>
            <a:ext cx="2048256" cy="2048256"/>
          </a:xfrm>
          <a:prstGeom prst="ellipse">
            <a:avLst/>
          </a:prstGeom>
          <a:ln w="15875">
            <a:solidFill>
              <a:srgbClr val="CFE6EF">
                <a:alpha val="20000"/>
              </a:srgbClr>
            </a:solidFill>
            <a:prstDash val="solid"/>
          </a:ln>
        </p:spPr>
      </p:sp>
      <p:sp>
        <p:nvSpPr>
          <p:cNvPr id="9" name="Shape 7"/>
          <p:cNvSpPr/>
          <p:nvPr/>
        </p:nvSpPr>
        <p:spPr>
          <a:xfrm>
            <a:off x="1609344" y="3026664"/>
            <a:ext cx="2816352" cy="2816352"/>
          </a:xfrm>
          <a:prstGeom prst="ellipse">
            <a:avLst/>
          </a:prstGeom>
          <a:ln w="15875">
            <a:solidFill>
              <a:srgbClr val="CFE6EF">
                <a:alpha val="18000"/>
              </a:srgbClr>
            </a:solidFill>
            <a:prstDash val="solid"/>
          </a:ln>
        </p:spPr>
      </p:sp>
      <p:sp>
        <p:nvSpPr>
          <p:cNvPr id="10" name="Shape 8"/>
          <p:cNvSpPr/>
          <p:nvPr/>
        </p:nvSpPr>
        <p:spPr>
          <a:xfrm>
            <a:off x="1225296" y="2642616"/>
            <a:ext cx="3584448" cy="3584448"/>
          </a:xfrm>
          <a:prstGeom prst="ellipse">
            <a:avLst/>
          </a:prstGeom>
          <a:ln w="15875">
            <a:solidFill>
              <a:srgbClr val="CFE6EF">
                <a:alpha val="16000"/>
              </a:srgbClr>
            </a:solidFill>
            <a:prstDash val="solid"/>
          </a:ln>
        </p:spPr>
      </p:sp>
      <p:sp>
        <p:nvSpPr>
          <p:cNvPr id="11" name="Shape 9"/>
          <p:cNvSpPr/>
          <p:nvPr/>
        </p:nvSpPr>
        <p:spPr>
          <a:xfrm>
            <a:off x="2935224" y="4352544"/>
            <a:ext cx="164592" cy="164592"/>
          </a:xfrm>
          <a:prstGeom prst="ellipse">
            <a:avLst/>
          </a:prstGeom>
          <a:solidFill>
            <a:srgbClr val="E8985E"/>
          </a:solidFill>
          <a:ln/>
        </p:spPr>
      </p:sp>
      <p:sp>
        <p:nvSpPr>
          <p:cNvPr id="12" name="Text 10"/>
          <p:cNvSpPr/>
          <p:nvPr/>
        </p:nvSpPr>
        <p:spPr>
          <a:xfrm>
            <a:off x="2194560" y="4572000"/>
            <a:ext cx="1645920" cy="274320"/>
          </a:xfrm>
          <a:prstGeom prst="rect">
            <a:avLst/>
          </a:prstGeom>
          <a:noFill/>
          <a:ln/>
        </p:spPr>
        <p:txBody>
          <a:bodyPr wrap="square" rtlCol="0" anchor="ctr"/>
          <a:lstStyle/>
          <a:p>
            <a:pPr algn="ctr" indent="0" marL="0">
              <a:buNone/>
            </a:pPr>
            <a:r>
              <a:rPr lang="en-US" sz="1000" dirty="0">
                <a:solidFill>
                  <a:srgbClr val="CFE6EF"/>
                </a:solidFill>
                <a:latin typeface="Calibri" pitchFamily="34" charset="0"/>
                <a:ea typeface="Calibri" pitchFamily="34" charset="-122"/>
                <a:cs typeface="Calibri" pitchFamily="34" charset="-120"/>
              </a:rPr>
              <a:t>Transducer</a:t>
            </a:r>
            <a:endParaRPr lang="en-US" sz="1000" dirty="0"/>
          </a:p>
        </p:txBody>
      </p:sp>
      <p:sp>
        <p:nvSpPr>
          <p:cNvPr id="13" name="Text 11"/>
          <p:cNvSpPr/>
          <p:nvPr/>
        </p:nvSpPr>
        <p:spPr>
          <a:xfrm>
            <a:off x="822960" y="2788920"/>
            <a:ext cx="448056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Spherical spreading: intensity falls as 1 / R²</a:t>
            </a:r>
            <a:endParaRPr lang="en-US" sz="1200" dirty="0"/>
          </a:p>
        </p:txBody>
      </p:sp>
      <p:sp>
        <p:nvSpPr>
          <p:cNvPr id="14" name="Shape 12"/>
          <p:cNvSpPr/>
          <p:nvPr/>
        </p:nvSpPr>
        <p:spPr>
          <a:xfrm>
            <a:off x="5852160" y="2606040"/>
            <a:ext cx="5760720" cy="3840480"/>
          </a:xfrm>
          <a:prstGeom prst="roundRect">
            <a:avLst>
              <a:gd name="adj" fmla="val 1905"/>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5" name="Text 13"/>
          <p:cNvSpPr/>
          <p:nvPr/>
        </p:nvSpPr>
        <p:spPr>
          <a:xfrm>
            <a:off x="6126480" y="2788920"/>
            <a:ext cx="521208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One-way transmission loss</a:t>
            </a:r>
            <a:endParaRPr lang="en-US" sz="1300" dirty="0"/>
          </a:p>
        </p:txBody>
      </p:sp>
      <p:sp>
        <p:nvSpPr>
          <p:cNvPr id="16" name="Text 14"/>
          <p:cNvSpPr/>
          <p:nvPr/>
        </p:nvSpPr>
        <p:spPr>
          <a:xfrm>
            <a:off x="6126480" y="3200400"/>
            <a:ext cx="5212080" cy="594360"/>
          </a:xfrm>
          <a:prstGeom prst="rect">
            <a:avLst/>
          </a:prstGeom>
          <a:noFill/>
          <a:ln/>
        </p:spPr>
        <p:txBody>
          <a:bodyPr wrap="square" rtlCol="0" anchor="ctr"/>
          <a:lstStyle/>
          <a:p>
            <a:pPr indent="0" marL="0">
              <a:buNone/>
            </a:pPr>
            <a:r>
              <a:rPr lang="en-US" sz="2400" b="1" dirty="0">
                <a:solidFill>
                  <a:srgbClr val="065A82"/>
                </a:solidFill>
                <a:latin typeface="Consolas" pitchFamily="34" charset="0"/>
                <a:ea typeface="Consolas" pitchFamily="34" charset="-122"/>
                <a:cs typeface="Consolas" pitchFamily="34" charset="-120"/>
              </a:rPr>
              <a:t>TL = 20 log₁₀(R)  +  αR</a:t>
            </a:r>
            <a:endParaRPr lang="en-US" sz="2400" dirty="0"/>
          </a:p>
        </p:txBody>
      </p:sp>
      <p:sp>
        <p:nvSpPr>
          <p:cNvPr id="17" name="Text 15"/>
          <p:cNvSpPr/>
          <p:nvPr/>
        </p:nvSpPr>
        <p:spPr>
          <a:xfrm>
            <a:off x="6126480" y="3977640"/>
            <a:ext cx="1554480" cy="457200"/>
          </a:xfrm>
          <a:prstGeom prst="rect">
            <a:avLst/>
          </a:prstGeom>
          <a:noFill/>
          <a:ln/>
        </p:spPr>
        <p:txBody>
          <a:bodyPr wrap="square" rtlCol="0" anchor="t"/>
          <a:lstStyle/>
          <a:p>
            <a:pPr indent="0" marL="0">
              <a:buNone/>
            </a:pPr>
            <a:r>
              <a:rPr lang="en-US" sz="1300" b="1" dirty="0">
                <a:solidFill>
                  <a:srgbClr val="1C7293"/>
                </a:solidFill>
                <a:latin typeface="Consolas" pitchFamily="34" charset="0"/>
                <a:ea typeface="Consolas" pitchFamily="34" charset="-122"/>
                <a:cs typeface="Consolas" pitchFamily="34" charset="-120"/>
              </a:rPr>
              <a:t>20 log₁₀(R)</a:t>
            </a:r>
            <a:endParaRPr lang="en-US" sz="1300" dirty="0"/>
          </a:p>
        </p:txBody>
      </p:sp>
      <p:sp>
        <p:nvSpPr>
          <p:cNvPr id="18" name="Text 16"/>
          <p:cNvSpPr/>
          <p:nvPr/>
        </p:nvSpPr>
        <p:spPr>
          <a:xfrm>
            <a:off x="7726680" y="3977640"/>
            <a:ext cx="3703320" cy="502920"/>
          </a:xfrm>
          <a:prstGeom prst="rect">
            <a:avLst/>
          </a:prstGeom>
          <a:noFill/>
          <a:ln/>
        </p:spPr>
        <p:txBody>
          <a:bodyPr wrap="square" rtlCol="0" anchor="ctr"/>
          <a:lstStyle/>
          <a:p>
            <a:pPr indent="0" marL="0">
              <a:lnSpc>
                <a:spcPct val="115000"/>
              </a:lnSpc>
              <a:buNone/>
            </a:pPr>
            <a:r>
              <a:rPr lang="en-US" sz="1100" dirty="0">
                <a:solidFill>
                  <a:srgbClr val="17232E"/>
                </a:solidFill>
                <a:latin typeface="Calibri" pitchFamily="34" charset="0"/>
                <a:ea typeface="Calibri" pitchFamily="34" charset="-122"/>
                <a:cs typeface="Calibri" pitchFamily="34" charset="-120"/>
              </a:rPr>
              <a:t>Geometric spreading loss — grows with the log of range R.</a:t>
            </a:r>
            <a:endParaRPr lang="en-US" sz="1100" dirty="0"/>
          </a:p>
        </p:txBody>
      </p:sp>
      <p:sp>
        <p:nvSpPr>
          <p:cNvPr id="19" name="Text 17"/>
          <p:cNvSpPr/>
          <p:nvPr/>
        </p:nvSpPr>
        <p:spPr>
          <a:xfrm>
            <a:off x="6126480" y="4599432"/>
            <a:ext cx="1554480" cy="457200"/>
          </a:xfrm>
          <a:prstGeom prst="rect">
            <a:avLst/>
          </a:prstGeom>
          <a:noFill/>
          <a:ln/>
        </p:spPr>
        <p:txBody>
          <a:bodyPr wrap="square" rtlCol="0" anchor="t"/>
          <a:lstStyle/>
          <a:p>
            <a:pPr indent="0" marL="0">
              <a:buNone/>
            </a:pPr>
            <a:r>
              <a:rPr lang="en-US" sz="1300" b="1" dirty="0">
                <a:solidFill>
                  <a:srgbClr val="1C7293"/>
                </a:solidFill>
                <a:latin typeface="Consolas" pitchFamily="34" charset="0"/>
                <a:ea typeface="Consolas" pitchFamily="34" charset="-122"/>
                <a:cs typeface="Consolas" pitchFamily="34" charset="-120"/>
              </a:rPr>
              <a:t>αR</a:t>
            </a:r>
            <a:endParaRPr lang="en-US" sz="1300" dirty="0"/>
          </a:p>
        </p:txBody>
      </p:sp>
      <p:sp>
        <p:nvSpPr>
          <p:cNvPr id="20" name="Text 18"/>
          <p:cNvSpPr/>
          <p:nvPr/>
        </p:nvSpPr>
        <p:spPr>
          <a:xfrm>
            <a:off x="7726680" y="4599432"/>
            <a:ext cx="3703320" cy="502920"/>
          </a:xfrm>
          <a:prstGeom prst="rect">
            <a:avLst/>
          </a:prstGeom>
          <a:noFill/>
          <a:ln/>
        </p:spPr>
        <p:txBody>
          <a:bodyPr wrap="square" rtlCol="0" anchor="ctr"/>
          <a:lstStyle/>
          <a:p>
            <a:pPr indent="0" marL="0">
              <a:lnSpc>
                <a:spcPct val="115000"/>
              </a:lnSpc>
              <a:buNone/>
            </a:pPr>
            <a:r>
              <a:rPr lang="en-US" sz="1100" dirty="0">
                <a:solidFill>
                  <a:srgbClr val="17232E"/>
                </a:solidFill>
                <a:latin typeface="Calibri" pitchFamily="34" charset="0"/>
                <a:ea typeface="Calibri" pitchFamily="34" charset="-122"/>
                <a:cs typeface="Calibri" pitchFamily="34" charset="-120"/>
              </a:rPr>
              <a:t>Absorption loss — grows linearly with range, scaled by the frequency-dependent absorption coefficient α.</a:t>
            </a:r>
            <a:endParaRPr lang="en-US" sz="1100" dirty="0"/>
          </a:p>
        </p:txBody>
      </p:sp>
      <p:sp>
        <p:nvSpPr>
          <p:cNvPr id="21" name="Text 19"/>
          <p:cNvSpPr/>
          <p:nvPr/>
        </p:nvSpPr>
        <p:spPr>
          <a:xfrm>
            <a:off x="6126480" y="5221224"/>
            <a:ext cx="1554480" cy="457200"/>
          </a:xfrm>
          <a:prstGeom prst="rect">
            <a:avLst/>
          </a:prstGeom>
          <a:noFill/>
          <a:ln/>
        </p:spPr>
        <p:txBody>
          <a:bodyPr wrap="square" rtlCol="0" anchor="t"/>
          <a:lstStyle/>
          <a:p>
            <a:pPr indent="0" marL="0">
              <a:buNone/>
            </a:pPr>
            <a:r>
              <a:rPr lang="en-US" sz="1300" b="1" dirty="0">
                <a:solidFill>
                  <a:srgbClr val="1C7293"/>
                </a:solidFill>
                <a:latin typeface="Consolas" pitchFamily="34" charset="0"/>
                <a:ea typeface="Consolas" pitchFamily="34" charset="-122"/>
                <a:cs typeface="Consolas" pitchFamily="34" charset="-120"/>
              </a:rPr>
              <a:t>× 2</a:t>
            </a:r>
            <a:endParaRPr lang="en-US" sz="1300" dirty="0"/>
          </a:p>
        </p:txBody>
      </p:sp>
      <p:sp>
        <p:nvSpPr>
          <p:cNvPr id="22" name="Text 20"/>
          <p:cNvSpPr/>
          <p:nvPr/>
        </p:nvSpPr>
        <p:spPr>
          <a:xfrm>
            <a:off x="7726680" y="5221224"/>
            <a:ext cx="3703320" cy="502920"/>
          </a:xfrm>
          <a:prstGeom prst="rect">
            <a:avLst/>
          </a:prstGeom>
          <a:noFill/>
          <a:ln/>
        </p:spPr>
        <p:txBody>
          <a:bodyPr wrap="square" rtlCol="0" anchor="ctr"/>
          <a:lstStyle/>
          <a:p>
            <a:pPr indent="0" marL="0">
              <a:lnSpc>
                <a:spcPct val="115000"/>
              </a:lnSpc>
              <a:buNone/>
            </a:pPr>
            <a:r>
              <a:rPr lang="en-US" sz="1100" dirty="0">
                <a:solidFill>
                  <a:srgbClr val="17232E"/>
                </a:solidFill>
                <a:latin typeface="Calibri" pitchFamily="34" charset="0"/>
                <a:ea typeface="Calibri" pitchFamily="34" charset="-122"/>
                <a:cs typeface="Calibri" pitchFamily="34" charset="-120"/>
              </a:rPr>
              <a:t>Applied twice in an echosounder: once outbound, once on the returning echo (two-way TL).</a:t>
            </a:r>
            <a:endParaRPr lang="en-US" sz="1100" dirty="0"/>
          </a:p>
        </p:txBody>
      </p:sp>
      <p:sp>
        <p:nvSpPr>
          <p:cNvPr id="23" name="Text 21"/>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HOW AN ECHOSOUNDER WORKS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Range from a single number: time</a:t>
            </a:r>
            <a:endParaRPr lang="en-US" sz="3200" dirty="0"/>
          </a:p>
        </p:txBody>
      </p:sp>
      <p:sp>
        <p:nvSpPr>
          <p:cNvPr id="4" name="Text 2"/>
          <p:cNvSpPr/>
          <p:nvPr/>
        </p:nvSpPr>
        <p:spPr>
          <a:xfrm>
            <a:off x="548640" y="1554480"/>
            <a:ext cx="10789920" cy="640080"/>
          </a:xfrm>
          <a:prstGeom prst="rect">
            <a:avLst/>
          </a:prstGeom>
          <a:noFill/>
          <a:ln/>
        </p:spPr>
        <p:txBody>
          <a:bodyPr wrap="square" rtlCol="0" anchor="ctr"/>
          <a:lstStyle/>
          <a:p>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An echosounder transmits a short acoustic pulse and measures the time until its echo returns. Because the sound speed c is known, that round-trip time converts directly to range.</a:t>
            </a:r>
            <a:endParaRPr lang="en-US" sz="1350" dirty="0"/>
          </a:p>
        </p:txBody>
      </p:sp>
      <p:sp>
        <p:nvSpPr>
          <p:cNvPr id="5" name="Shape 3"/>
          <p:cNvSpPr/>
          <p:nvPr/>
        </p:nvSpPr>
        <p:spPr>
          <a:xfrm>
            <a:off x="548640" y="2331720"/>
            <a:ext cx="6949440" cy="4114800"/>
          </a:xfrm>
          <a:prstGeom prst="roundRect">
            <a:avLst>
              <a:gd name="adj" fmla="val 1778"/>
            </a:avLst>
          </a:prstGeom>
          <a:solidFill>
            <a:srgbClr val="EAF3F7"/>
          </a:solidFill>
          <a:ln w="12700">
            <a:solidFill>
              <a:srgbClr val="CFE6EF"/>
            </a:solidFill>
            <a:prstDash val="solid"/>
          </a:ln>
        </p:spPr>
      </p:sp>
      <p:sp>
        <p:nvSpPr>
          <p:cNvPr id="6" name="Shape 4"/>
          <p:cNvSpPr/>
          <p:nvPr/>
        </p:nvSpPr>
        <p:spPr>
          <a:xfrm>
            <a:off x="822960" y="3017520"/>
            <a:ext cx="6400800" cy="0"/>
          </a:xfrm>
          <a:prstGeom prst="line">
            <a:avLst/>
          </a:prstGeom>
          <a:noFill/>
          <a:ln w="19050">
            <a:solidFill>
              <a:srgbClr val="065A82"/>
            </a:solidFill>
            <a:prstDash val="dash"/>
          </a:ln>
        </p:spPr>
      </p:sp>
      <p:sp>
        <p:nvSpPr>
          <p:cNvPr id="7" name="Text 5"/>
          <p:cNvSpPr/>
          <p:nvPr/>
        </p:nvSpPr>
        <p:spPr>
          <a:xfrm>
            <a:off x="5669280" y="2651760"/>
            <a:ext cx="1645920" cy="274320"/>
          </a:xfrm>
          <a:prstGeom prst="rect">
            <a:avLst/>
          </a:prstGeom>
          <a:noFill/>
          <a:ln/>
        </p:spPr>
        <p:txBody>
          <a:bodyPr wrap="square" rtlCol="0" anchor="ctr"/>
          <a:lstStyle/>
          <a:p>
            <a:pPr algn="r" indent="0" marL="0">
              <a:buNone/>
            </a:pPr>
            <a:r>
              <a:rPr lang="en-US" sz="950" dirty="0">
                <a:solidFill>
                  <a:srgbClr val="5C7A90"/>
                </a:solidFill>
                <a:latin typeface="Calibri" pitchFamily="34" charset="0"/>
                <a:ea typeface="Calibri" pitchFamily="34" charset="-122"/>
                <a:cs typeface="Calibri" pitchFamily="34" charset="-120"/>
              </a:rPr>
              <a:t>sea surface</a:t>
            </a:r>
            <a:endParaRPr lang="en-US" sz="950" dirty="0"/>
          </a:p>
        </p:txBody>
      </p:sp>
      <p:sp>
        <p:nvSpPr>
          <p:cNvPr id="8" name="Shape 6"/>
          <p:cNvSpPr/>
          <p:nvPr/>
        </p:nvSpPr>
        <p:spPr>
          <a:xfrm>
            <a:off x="868680" y="2715768"/>
            <a:ext cx="914400" cy="292608"/>
          </a:xfrm>
          <a:prstGeom prst="roundRect">
            <a:avLst>
              <a:gd name="adj" fmla="val 12500"/>
            </a:avLst>
          </a:prstGeom>
          <a:solidFill>
            <a:srgbClr val="21295C"/>
          </a:solidFill>
          <a:ln/>
        </p:spPr>
      </p:sp>
      <p:sp>
        <p:nvSpPr>
          <p:cNvPr id="9" name="Shape 7"/>
          <p:cNvSpPr/>
          <p:nvPr/>
        </p:nvSpPr>
        <p:spPr>
          <a:xfrm flipV="1">
            <a:off x="1051560" y="2990088"/>
            <a:ext cx="548640" cy="201168"/>
          </a:xfrm>
          <a:prstGeom prst="triangle">
            <a:avLst/>
          </a:prstGeom>
          <a:solidFill>
            <a:srgbClr val="21295C"/>
          </a:solidFill>
          <a:ln/>
        </p:spPr>
      </p:sp>
      <p:sp>
        <p:nvSpPr>
          <p:cNvPr id="10" name="Text 8"/>
          <p:cNvSpPr/>
          <p:nvPr/>
        </p:nvSpPr>
        <p:spPr>
          <a:xfrm>
            <a:off x="640080" y="3227832"/>
            <a:ext cx="1371600" cy="274320"/>
          </a:xfrm>
          <a:prstGeom prst="rect">
            <a:avLst/>
          </a:prstGeom>
          <a:noFill/>
          <a:ln/>
        </p:spPr>
        <p:txBody>
          <a:bodyPr wrap="square" rtlCol="0" anchor="ctr"/>
          <a:lstStyle/>
          <a:p>
            <a:pPr indent="0" marL="0">
              <a:buNone/>
            </a:pPr>
            <a:r>
              <a:rPr lang="en-US" sz="950" dirty="0">
                <a:solidFill>
                  <a:srgbClr val="17232E"/>
                </a:solidFill>
                <a:latin typeface="Calibri" pitchFamily="34" charset="0"/>
                <a:ea typeface="Calibri" pitchFamily="34" charset="-122"/>
                <a:cs typeface="Calibri" pitchFamily="34" charset="-120"/>
              </a:rPr>
              <a:t>Transducer</a:t>
            </a:r>
            <a:endParaRPr lang="en-US" sz="950" dirty="0"/>
          </a:p>
        </p:txBody>
      </p:sp>
      <p:sp>
        <p:nvSpPr>
          <p:cNvPr id="11" name="Shape 9"/>
          <p:cNvSpPr/>
          <p:nvPr/>
        </p:nvSpPr>
        <p:spPr>
          <a:xfrm>
            <a:off x="1325880" y="3246120"/>
            <a:ext cx="0" cy="2148840"/>
          </a:xfrm>
          <a:prstGeom prst="line">
            <a:avLst/>
          </a:prstGeom>
          <a:noFill/>
          <a:ln w="38100">
            <a:solidFill>
              <a:srgbClr val="E8985E"/>
            </a:solidFill>
            <a:prstDash val="solid"/>
            <a:tailEnd type="triangle"/>
          </a:ln>
        </p:spPr>
      </p:sp>
      <p:sp>
        <p:nvSpPr>
          <p:cNvPr id="12" name="Text 10"/>
          <p:cNvSpPr/>
          <p:nvPr/>
        </p:nvSpPr>
        <p:spPr>
          <a:xfrm>
            <a:off x="1508760" y="4069080"/>
            <a:ext cx="1645920" cy="274320"/>
          </a:xfrm>
          <a:prstGeom prst="rect">
            <a:avLst/>
          </a:prstGeom>
          <a:noFill/>
          <a:ln/>
        </p:spPr>
        <p:txBody>
          <a:bodyPr wrap="square" rtlCol="0" anchor="ctr"/>
          <a:lstStyle/>
          <a:p>
            <a:pPr indent="0" marL="0">
              <a:buNone/>
            </a:pPr>
            <a:r>
              <a:rPr lang="en-US" sz="950" b="1" dirty="0">
                <a:solidFill>
                  <a:srgbClr val="E8985E"/>
                </a:solidFill>
                <a:latin typeface="Calibri" pitchFamily="34" charset="0"/>
                <a:ea typeface="Calibri" pitchFamily="34" charset="-122"/>
                <a:cs typeface="Calibri" pitchFamily="34" charset="-120"/>
              </a:rPr>
              <a:t>outgoing pulse</a:t>
            </a:r>
            <a:endParaRPr lang="en-US" sz="950" dirty="0"/>
          </a:p>
        </p:txBody>
      </p:sp>
      <p:sp>
        <p:nvSpPr>
          <p:cNvPr id="13" name="Shape 11"/>
          <p:cNvSpPr/>
          <p:nvPr/>
        </p:nvSpPr>
        <p:spPr>
          <a:xfrm>
            <a:off x="1783080" y="5394960"/>
            <a:ext cx="0" cy="-2148840"/>
          </a:xfrm>
          <a:prstGeom prst="line">
            <a:avLst/>
          </a:prstGeom>
          <a:noFill/>
          <a:ln w="38100">
            <a:solidFill>
              <a:srgbClr val="1C7293"/>
            </a:solidFill>
            <a:prstDash val="solid"/>
            <a:tailEnd type="triangle"/>
          </a:ln>
        </p:spPr>
      </p:sp>
      <p:sp>
        <p:nvSpPr>
          <p:cNvPr id="14" name="Text 12"/>
          <p:cNvSpPr/>
          <p:nvPr/>
        </p:nvSpPr>
        <p:spPr>
          <a:xfrm>
            <a:off x="1965960" y="3749040"/>
            <a:ext cx="1737360" cy="274320"/>
          </a:xfrm>
          <a:prstGeom prst="rect">
            <a:avLst/>
          </a:prstGeom>
          <a:noFill/>
          <a:ln/>
        </p:spPr>
        <p:txBody>
          <a:bodyPr wrap="square"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returning echo</a:t>
            </a:r>
            <a:endParaRPr lang="en-US" sz="950" dirty="0"/>
          </a:p>
        </p:txBody>
      </p:sp>
      <p:sp>
        <p:nvSpPr>
          <p:cNvPr id="15" name="Shape 13"/>
          <p:cNvSpPr/>
          <p:nvPr/>
        </p:nvSpPr>
        <p:spPr>
          <a:xfrm>
            <a:off x="1143000" y="5349240"/>
            <a:ext cx="384048" cy="201168"/>
          </a:xfrm>
          <a:prstGeom prst="ellipse">
            <a:avLst/>
          </a:prstGeom>
          <a:solidFill>
            <a:srgbClr val="065A82"/>
          </a:solidFill>
          <a:ln/>
        </p:spPr>
      </p:sp>
      <p:sp>
        <p:nvSpPr>
          <p:cNvPr id="16" name="Text 14"/>
          <p:cNvSpPr/>
          <p:nvPr/>
        </p:nvSpPr>
        <p:spPr>
          <a:xfrm>
            <a:off x="1645920" y="5349240"/>
            <a:ext cx="1828800" cy="274320"/>
          </a:xfrm>
          <a:prstGeom prst="rect">
            <a:avLst/>
          </a:prstGeom>
          <a:noFill/>
          <a:ln/>
        </p:spPr>
        <p:txBody>
          <a:bodyPr wrap="square" rtlCol="0" anchor="ctr"/>
          <a:lstStyle/>
          <a:p>
            <a:pPr indent="0" marL="0">
              <a:buNone/>
            </a:pPr>
            <a:r>
              <a:rPr lang="en-US" sz="950" dirty="0">
                <a:solidFill>
                  <a:srgbClr val="17232E"/>
                </a:solidFill>
                <a:latin typeface="Calibri" pitchFamily="34" charset="0"/>
                <a:ea typeface="Calibri" pitchFamily="34" charset="-122"/>
                <a:cs typeface="Calibri" pitchFamily="34" charset="-120"/>
              </a:rPr>
              <a:t>target (e.g. fish)</a:t>
            </a:r>
            <a:endParaRPr lang="en-US" sz="950" dirty="0"/>
          </a:p>
        </p:txBody>
      </p:sp>
      <p:sp>
        <p:nvSpPr>
          <p:cNvPr id="17" name="Shape 15"/>
          <p:cNvSpPr/>
          <p:nvPr/>
        </p:nvSpPr>
        <p:spPr>
          <a:xfrm>
            <a:off x="3291840" y="3246120"/>
            <a:ext cx="0" cy="2194560"/>
          </a:xfrm>
          <a:prstGeom prst="line">
            <a:avLst/>
          </a:prstGeom>
          <a:noFill/>
          <a:ln w="12700">
            <a:solidFill>
              <a:srgbClr val="5C7A90"/>
            </a:solidFill>
            <a:prstDash val="solid"/>
          </a:ln>
        </p:spPr>
      </p:sp>
      <p:sp>
        <p:nvSpPr>
          <p:cNvPr id="18" name="Shape 16"/>
          <p:cNvSpPr/>
          <p:nvPr/>
        </p:nvSpPr>
        <p:spPr>
          <a:xfrm>
            <a:off x="3200400" y="3246120"/>
            <a:ext cx="182880" cy="0"/>
          </a:xfrm>
          <a:prstGeom prst="line">
            <a:avLst/>
          </a:prstGeom>
          <a:noFill/>
          <a:ln w="12700">
            <a:solidFill>
              <a:srgbClr val="5C7A90"/>
            </a:solidFill>
            <a:prstDash val="solid"/>
          </a:ln>
        </p:spPr>
      </p:sp>
      <p:sp>
        <p:nvSpPr>
          <p:cNvPr id="19" name="Shape 17"/>
          <p:cNvSpPr/>
          <p:nvPr/>
        </p:nvSpPr>
        <p:spPr>
          <a:xfrm>
            <a:off x="3200400" y="5440680"/>
            <a:ext cx="182880" cy="0"/>
          </a:xfrm>
          <a:prstGeom prst="line">
            <a:avLst/>
          </a:prstGeom>
          <a:noFill/>
          <a:ln w="12700">
            <a:solidFill>
              <a:srgbClr val="5C7A90"/>
            </a:solidFill>
            <a:prstDash val="solid"/>
          </a:ln>
        </p:spPr>
      </p:sp>
      <p:sp>
        <p:nvSpPr>
          <p:cNvPr id="20" name="Text 18"/>
          <p:cNvSpPr/>
          <p:nvPr/>
        </p:nvSpPr>
        <p:spPr>
          <a:xfrm>
            <a:off x="3429000" y="4206240"/>
            <a:ext cx="365760" cy="274320"/>
          </a:xfrm>
          <a:prstGeom prst="rect">
            <a:avLst/>
          </a:prstGeom>
          <a:noFill/>
          <a:ln/>
        </p:spPr>
        <p:txBody>
          <a:bodyPr wrap="square" rtlCol="0" anchor="ctr"/>
          <a:lstStyle/>
          <a:p>
            <a:pPr indent="0" marL="0">
              <a:buNone/>
            </a:pPr>
            <a:r>
              <a:rPr lang="en-US" sz="1400" b="1" i="1" dirty="0">
                <a:solidFill>
                  <a:srgbClr val="17232E"/>
                </a:solidFill>
                <a:latin typeface="Cambria" pitchFamily="34" charset="0"/>
                <a:ea typeface="Cambria" pitchFamily="34" charset="-122"/>
                <a:cs typeface="Cambria" pitchFamily="34" charset="-120"/>
              </a:rPr>
              <a:t>R</a:t>
            </a:r>
            <a:endParaRPr lang="en-US" sz="1400" dirty="0"/>
          </a:p>
        </p:txBody>
      </p:sp>
      <p:sp>
        <p:nvSpPr>
          <p:cNvPr id="21" name="Shape 19"/>
          <p:cNvSpPr/>
          <p:nvPr/>
        </p:nvSpPr>
        <p:spPr>
          <a:xfrm>
            <a:off x="4114800" y="3703320"/>
            <a:ext cx="3017520" cy="1371600"/>
          </a:xfrm>
          <a:prstGeom prst="roundRect">
            <a:avLst>
              <a:gd name="adj" fmla="val 5333"/>
            </a:avLst>
          </a:prstGeom>
          <a:solidFill>
            <a:srgbClr val="FFFFFF"/>
          </a:solidFill>
          <a:ln w="12700">
            <a:solidFill>
              <a:srgbClr val="CFE6EF"/>
            </a:solidFill>
            <a:prstDash val="solid"/>
          </a:ln>
          <a:effectLst>
            <a:outerShdw sx="100000" sy="100000" kx="0" ky="0" algn="bl" rotWithShape="0" blurRad="63500" dist="25400" dir="5400000">
              <a:srgbClr val="1B2A38">
                <a:alpha val="10000"/>
              </a:srgbClr>
            </a:outerShdw>
          </a:effectLst>
        </p:spPr>
      </p:sp>
      <p:sp>
        <p:nvSpPr>
          <p:cNvPr id="22" name="Text 20"/>
          <p:cNvSpPr/>
          <p:nvPr/>
        </p:nvSpPr>
        <p:spPr>
          <a:xfrm>
            <a:off x="4297680" y="3840480"/>
            <a:ext cx="2651760" cy="502920"/>
          </a:xfrm>
          <a:prstGeom prst="rect">
            <a:avLst/>
          </a:prstGeom>
          <a:noFill/>
          <a:ln/>
        </p:spPr>
        <p:txBody>
          <a:bodyPr wrap="square" rtlCol="0" anchor="ctr"/>
          <a:lstStyle/>
          <a:p>
            <a:pPr indent="0" marL="0">
              <a:buNone/>
            </a:pPr>
            <a:r>
              <a:rPr lang="en-US" sz="2200" b="1" dirty="0">
                <a:solidFill>
                  <a:srgbClr val="065A82"/>
                </a:solidFill>
                <a:latin typeface="Consolas" pitchFamily="34" charset="0"/>
                <a:ea typeface="Consolas" pitchFamily="34" charset="-122"/>
                <a:cs typeface="Consolas" pitchFamily="34" charset="-120"/>
              </a:rPr>
              <a:t>R = c × t / 2</a:t>
            </a:r>
            <a:endParaRPr lang="en-US" sz="2200" dirty="0"/>
          </a:p>
        </p:txBody>
      </p:sp>
      <p:sp>
        <p:nvSpPr>
          <p:cNvPr id="23" name="Text 21"/>
          <p:cNvSpPr/>
          <p:nvPr/>
        </p:nvSpPr>
        <p:spPr>
          <a:xfrm>
            <a:off x="4297680" y="4389120"/>
            <a:ext cx="2651760" cy="548640"/>
          </a:xfrm>
          <a:prstGeom prst="rect">
            <a:avLst/>
          </a:prstGeom>
          <a:noFill/>
          <a:ln/>
        </p:spPr>
        <p:txBody>
          <a:bodyPr wrap="square" rtlCol="0" anchor="ctr"/>
          <a:lstStyle/>
          <a:p>
            <a:pPr indent="0" marL="0">
              <a:lnSpc>
                <a:spcPct val="115000"/>
              </a:lnSpc>
              <a:buNone/>
            </a:pPr>
            <a:r>
              <a:rPr lang="en-US" sz="1050" dirty="0">
                <a:solidFill>
                  <a:srgbClr val="5C7A90"/>
                </a:solidFill>
                <a:latin typeface="Calibri" pitchFamily="34" charset="0"/>
                <a:ea typeface="Calibri" pitchFamily="34" charset="-122"/>
                <a:cs typeface="Calibri" pitchFamily="34" charset="-120"/>
              </a:rPr>
              <a:t>c = sound speed,  t = round-trip time</a:t>
            </a:r>
            <a:endParaRPr lang="en-US" sz="1050" dirty="0"/>
          </a:p>
        </p:txBody>
      </p:sp>
      <p:sp>
        <p:nvSpPr>
          <p:cNvPr id="24" name="Text 22"/>
          <p:cNvSpPr/>
          <p:nvPr/>
        </p:nvSpPr>
        <p:spPr>
          <a:xfrm>
            <a:off x="822960" y="6035040"/>
            <a:ext cx="1371600" cy="274320"/>
          </a:xfrm>
          <a:prstGeom prst="rect">
            <a:avLst/>
          </a:prstGeom>
          <a:noFill/>
          <a:ln/>
        </p:spPr>
        <p:txBody>
          <a:bodyPr wrap="square" rtlCol="0" anchor="ctr"/>
          <a:lstStyle/>
          <a:p>
            <a:pPr indent="0" marL="0">
              <a:buNone/>
            </a:pPr>
            <a:r>
              <a:rPr lang="en-US" sz="950" dirty="0">
                <a:solidFill>
                  <a:srgbClr val="5C7A90"/>
                </a:solidFill>
                <a:latin typeface="Calibri" pitchFamily="34" charset="0"/>
                <a:ea typeface="Calibri" pitchFamily="34" charset="-122"/>
                <a:cs typeface="Calibri" pitchFamily="34" charset="-120"/>
              </a:rPr>
              <a:t>seabed</a:t>
            </a:r>
            <a:endParaRPr lang="en-US" sz="950" dirty="0"/>
          </a:p>
        </p:txBody>
      </p:sp>
      <p:sp>
        <p:nvSpPr>
          <p:cNvPr id="25" name="Shape 23"/>
          <p:cNvSpPr/>
          <p:nvPr/>
        </p:nvSpPr>
        <p:spPr>
          <a:xfrm>
            <a:off x="822960" y="6263640"/>
            <a:ext cx="6400800" cy="109728"/>
          </a:xfrm>
          <a:prstGeom prst="rect">
            <a:avLst/>
          </a:prstGeom>
          <a:solidFill>
            <a:srgbClr val="B8A98A"/>
          </a:solidFill>
          <a:ln/>
        </p:spPr>
      </p:sp>
      <p:sp>
        <p:nvSpPr>
          <p:cNvPr id="26" name="Shape 24"/>
          <p:cNvSpPr/>
          <p:nvPr/>
        </p:nvSpPr>
        <p:spPr>
          <a:xfrm>
            <a:off x="7772400" y="2331720"/>
            <a:ext cx="3840480" cy="4114800"/>
          </a:xfrm>
          <a:prstGeom prst="roundRect">
            <a:avLst>
              <a:gd name="adj" fmla="val 1905"/>
            </a:avLst>
          </a:prstGeom>
          <a:solidFill>
            <a:srgbClr val="21295C"/>
          </a:solidFill>
          <a:ln/>
          <a:effectLst>
            <a:outerShdw sx="100000" sy="100000" kx="0" ky="0" algn="bl" rotWithShape="0" blurRad="127000" dist="38100" dir="5400000">
              <a:srgbClr val="1B2A38">
                <a:alpha val="20000"/>
              </a:srgbClr>
            </a:outerShdw>
          </a:effectLst>
        </p:spPr>
      </p:sp>
      <p:sp>
        <p:nvSpPr>
          <p:cNvPr id="27" name="Text 25"/>
          <p:cNvSpPr/>
          <p:nvPr/>
        </p:nvSpPr>
        <p:spPr>
          <a:xfrm>
            <a:off x="8092440" y="2606040"/>
            <a:ext cx="3200400" cy="274320"/>
          </a:xfrm>
          <a:prstGeom prst="rect">
            <a:avLst/>
          </a:prstGeom>
          <a:noFill/>
          <a:ln/>
        </p:spPr>
        <p:txBody>
          <a:bodyPr wrap="square" rtlCol="0" anchor="ctr"/>
          <a:lstStyle/>
          <a:p>
            <a:pPr indent="0" marL="0">
              <a:buNone/>
            </a:pPr>
            <a:r>
              <a:rPr lang="en-US" sz="1100" b="1" spc="200" kern="0" dirty="0">
                <a:solidFill>
                  <a:srgbClr val="E8985E"/>
                </a:solidFill>
                <a:latin typeface="Calibri" pitchFamily="34" charset="0"/>
                <a:ea typeface="Calibri" pitchFamily="34" charset="-122"/>
                <a:cs typeface="Calibri" pitchFamily="34" charset="-120"/>
              </a:rPr>
              <a:t>WORKED EXAMPLE</a:t>
            </a:r>
            <a:endParaRPr lang="en-US" sz="1100" dirty="0"/>
          </a:p>
        </p:txBody>
      </p:sp>
      <p:sp>
        <p:nvSpPr>
          <p:cNvPr id="28" name="Text 26"/>
          <p:cNvSpPr/>
          <p:nvPr/>
        </p:nvSpPr>
        <p:spPr>
          <a:xfrm>
            <a:off x="8092440" y="2926080"/>
            <a:ext cx="3200400" cy="822960"/>
          </a:xfrm>
          <a:prstGeom prst="rect">
            <a:avLst/>
          </a:prstGeom>
          <a:noFill/>
          <a:ln/>
        </p:spPr>
        <p:txBody>
          <a:bodyPr wrap="square" rtlCol="0" anchor="ctr"/>
          <a:lstStyle/>
          <a:p>
            <a:pPr indent="0" marL="0">
              <a:lnSpc>
                <a:spcPct val="125000"/>
              </a:lnSpc>
              <a:buNone/>
            </a:pPr>
            <a:r>
              <a:rPr lang="en-US" sz="1250" dirty="0">
                <a:solidFill>
                  <a:srgbClr val="CFE6EF"/>
                </a:solidFill>
                <a:latin typeface="Calibri" pitchFamily="34" charset="0"/>
                <a:ea typeface="Calibri" pitchFamily="34" charset="-122"/>
                <a:cs typeface="Calibri" pitchFamily="34" charset="-120"/>
              </a:rPr>
              <a:t>An echo returns 0.133 s after transmission, in water where c ≈ 1500 m/s.</a:t>
            </a:r>
            <a:endParaRPr lang="en-US" sz="1250" dirty="0"/>
          </a:p>
        </p:txBody>
      </p:sp>
      <p:sp>
        <p:nvSpPr>
          <p:cNvPr id="29" name="Shape 27"/>
          <p:cNvSpPr/>
          <p:nvPr/>
        </p:nvSpPr>
        <p:spPr>
          <a:xfrm>
            <a:off x="8092440" y="3794760"/>
            <a:ext cx="3200400" cy="0"/>
          </a:xfrm>
          <a:prstGeom prst="line">
            <a:avLst/>
          </a:prstGeom>
          <a:noFill/>
          <a:ln w="12700">
            <a:solidFill>
              <a:srgbClr val="1C7293">
                <a:alpha val="60000"/>
              </a:srgbClr>
            </a:solidFill>
            <a:prstDash val="solid"/>
          </a:ln>
        </p:spPr>
      </p:sp>
      <p:sp>
        <p:nvSpPr>
          <p:cNvPr id="30" name="Text 28"/>
          <p:cNvSpPr/>
          <p:nvPr/>
        </p:nvSpPr>
        <p:spPr>
          <a:xfrm>
            <a:off x="8092440" y="3977640"/>
            <a:ext cx="3200400" cy="365760"/>
          </a:xfrm>
          <a:prstGeom prst="rect">
            <a:avLst/>
          </a:prstGeom>
          <a:noFill/>
          <a:ln/>
        </p:spPr>
        <p:txBody>
          <a:bodyPr wrap="square"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R = (1500 × 0.133) / 2</a:t>
            </a:r>
            <a:endParaRPr lang="en-US" sz="1400" dirty="0"/>
          </a:p>
        </p:txBody>
      </p:sp>
      <p:sp>
        <p:nvSpPr>
          <p:cNvPr id="31" name="Text 29"/>
          <p:cNvSpPr/>
          <p:nvPr/>
        </p:nvSpPr>
        <p:spPr>
          <a:xfrm>
            <a:off x="8092440" y="4389120"/>
            <a:ext cx="3200400" cy="685800"/>
          </a:xfrm>
          <a:prstGeom prst="rect">
            <a:avLst/>
          </a:prstGeom>
          <a:noFill/>
          <a:ln/>
        </p:spPr>
        <p:txBody>
          <a:bodyPr wrap="square" rtlCol="0" anchor="ctr"/>
          <a:lstStyle/>
          <a:p>
            <a:pPr indent="0" marL="0">
              <a:buNone/>
            </a:pPr>
            <a:r>
              <a:rPr lang="en-US" sz="3400" b="1" dirty="0">
                <a:solidFill>
                  <a:srgbClr val="E8985E"/>
                </a:solidFill>
                <a:latin typeface="Cambria" pitchFamily="34" charset="0"/>
                <a:ea typeface="Cambria" pitchFamily="34" charset="-122"/>
                <a:cs typeface="Cambria" pitchFamily="34" charset="-120"/>
              </a:rPr>
              <a:t>≈ 100 metres</a:t>
            </a:r>
            <a:endParaRPr lang="en-US" sz="3400" dirty="0"/>
          </a:p>
        </p:txBody>
      </p:sp>
      <p:sp>
        <p:nvSpPr>
          <p:cNvPr id="32" name="Text 30"/>
          <p:cNvSpPr/>
          <p:nvPr/>
        </p:nvSpPr>
        <p:spPr>
          <a:xfrm>
            <a:off x="8092440" y="5166360"/>
            <a:ext cx="3200400" cy="1097280"/>
          </a:xfrm>
          <a:prstGeom prst="rect">
            <a:avLst/>
          </a:prstGeom>
          <a:noFill/>
          <a:ln/>
        </p:spPr>
        <p:txBody>
          <a:bodyPr wrap="square" rtlCol="0" anchor="ctr"/>
          <a:lstStyle/>
          <a:p>
            <a:pPr indent="0" marL="0">
              <a:lnSpc>
                <a:spcPct val="120000"/>
              </a:lnSpc>
              <a:buNone/>
            </a:pPr>
            <a:r>
              <a:rPr lang="en-US" sz="1050" dirty="0">
                <a:solidFill>
                  <a:srgbClr val="CFE6EF"/>
                </a:solidFill>
                <a:latin typeface="Calibri" pitchFamily="34" charset="0"/>
                <a:ea typeface="Calibri" pitchFamily="34" charset="-122"/>
                <a:cs typeface="Calibri" pitchFamily="34" charset="-120"/>
              </a:rPr>
              <a:t>This range/time relationship, repeated thousands of times per survey line, is what an echosounder ultimately measures.</a:t>
            </a:r>
            <a:endParaRPr lang="en-US" sz="1050" dirty="0"/>
          </a:p>
        </p:txBody>
      </p:sp>
      <p:sp>
        <p:nvSpPr>
          <p:cNvPr id="33" name="Text 31"/>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HOW AN ECHOSOUNDER WORKS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Not just where — what, and how much</a:t>
            </a:r>
            <a:endParaRPr lang="en-US" sz="3200" dirty="0"/>
          </a:p>
        </p:txBody>
      </p:sp>
      <p:sp>
        <p:nvSpPr>
          <p:cNvPr id="4" name="Text 2"/>
          <p:cNvSpPr/>
          <p:nvPr/>
        </p:nvSpPr>
        <p:spPr>
          <a:xfrm>
            <a:off x="548640" y="1554480"/>
            <a:ext cx="10789920" cy="594360"/>
          </a:xfrm>
          <a:prstGeom prst="rect">
            <a:avLst/>
          </a:prstGeom>
          <a:noFill/>
          <a:ln/>
        </p:spPr>
        <p:txBody>
          <a:bodyPr wrap="square" rtlCol="0" anchor="ctr"/>
          <a:lstStyle/>
          <a:p>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Range alone locates a target. The strength of its echo carries information about size, composition and abundance — the basis of quantitative fisheries acoustics.</a:t>
            </a:r>
            <a:endParaRPr lang="en-US" sz="1350" dirty="0"/>
          </a:p>
        </p:txBody>
      </p:sp>
      <p:sp>
        <p:nvSpPr>
          <p:cNvPr id="5" name="Shape 3"/>
          <p:cNvSpPr/>
          <p:nvPr/>
        </p:nvSpPr>
        <p:spPr>
          <a:xfrm>
            <a:off x="548640" y="2331720"/>
            <a:ext cx="3611880" cy="3383280"/>
          </a:xfrm>
          <a:prstGeom prst="roundRect">
            <a:avLst>
              <a:gd name="adj" fmla="val 2703"/>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6" name="Shape 4"/>
          <p:cNvSpPr/>
          <p:nvPr/>
        </p:nvSpPr>
        <p:spPr>
          <a:xfrm>
            <a:off x="822960" y="2606040"/>
            <a:ext cx="640080" cy="640080"/>
          </a:xfrm>
          <a:prstGeom prst="ellipse">
            <a:avLst/>
          </a:prstGeom>
          <a:solidFill>
            <a:srgbClr val="065A82"/>
          </a:solidFill>
          <a:ln/>
        </p:spPr>
      </p:sp>
      <p:sp>
        <p:nvSpPr>
          <p:cNvPr id="7" name="Text 5"/>
          <p:cNvSpPr/>
          <p:nvPr/>
        </p:nvSpPr>
        <p:spPr>
          <a:xfrm>
            <a:off x="822960" y="2587752"/>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TS</a:t>
            </a:r>
            <a:endParaRPr lang="en-US" sz="1700" dirty="0"/>
          </a:p>
        </p:txBody>
      </p:sp>
      <p:sp>
        <p:nvSpPr>
          <p:cNvPr id="8" name="Text 6"/>
          <p:cNvSpPr/>
          <p:nvPr/>
        </p:nvSpPr>
        <p:spPr>
          <a:xfrm>
            <a:off x="822960" y="3383280"/>
            <a:ext cx="306324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Target Strength</a:t>
            </a:r>
            <a:endParaRPr lang="en-US" sz="1500" dirty="0"/>
          </a:p>
        </p:txBody>
      </p:sp>
      <p:sp>
        <p:nvSpPr>
          <p:cNvPr id="9" name="Text 7"/>
          <p:cNvSpPr/>
          <p:nvPr/>
        </p:nvSpPr>
        <p:spPr>
          <a:xfrm>
            <a:off x="822960" y="3840480"/>
            <a:ext cx="3063240" cy="1737360"/>
          </a:xfrm>
          <a:prstGeom prst="rect">
            <a:avLst/>
          </a:prstGeom>
          <a:noFill/>
          <a:ln/>
        </p:spPr>
        <p:txBody>
          <a:bodyPr wrap="square" rtlCol="0" anchor="ctr"/>
          <a:lstStyle/>
          <a:p>
            <a:pPr indent="0" marL="0">
              <a:lnSpc>
                <a:spcPct val="125000"/>
              </a:lnSpc>
              <a:buNone/>
            </a:pPr>
            <a:r>
              <a:rPr lang="en-US" sz="1150" dirty="0">
                <a:solidFill>
                  <a:srgbClr val="17232E"/>
                </a:solidFill>
                <a:latin typeface="Calibri" pitchFamily="34" charset="0"/>
                <a:ea typeface="Calibri" pitchFamily="34" charset="-122"/>
                <a:cs typeface="Calibri" pitchFamily="34" charset="-120"/>
              </a:rPr>
              <a:t>A single object's echo, expressed in dB. Larger, denser, or better-oriented targets (e.g. a fish's swim bladder) return a stronger echo — used to estimate individual fish length.</a:t>
            </a:r>
            <a:endParaRPr lang="en-US" sz="1150" dirty="0"/>
          </a:p>
        </p:txBody>
      </p:sp>
      <p:sp>
        <p:nvSpPr>
          <p:cNvPr id="10" name="Shape 8"/>
          <p:cNvSpPr/>
          <p:nvPr/>
        </p:nvSpPr>
        <p:spPr>
          <a:xfrm>
            <a:off x="4389120" y="2331720"/>
            <a:ext cx="3611880" cy="3383280"/>
          </a:xfrm>
          <a:prstGeom prst="roundRect">
            <a:avLst>
              <a:gd name="adj" fmla="val 2703"/>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1" name="Shape 9"/>
          <p:cNvSpPr/>
          <p:nvPr/>
        </p:nvSpPr>
        <p:spPr>
          <a:xfrm>
            <a:off x="4663440" y="2606040"/>
            <a:ext cx="640080" cy="640080"/>
          </a:xfrm>
          <a:prstGeom prst="ellipse">
            <a:avLst/>
          </a:prstGeom>
          <a:solidFill>
            <a:srgbClr val="065A82"/>
          </a:solidFill>
          <a:ln/>
        </p:spPr>
      </p:sp>
      <p:sp>
        <p:nvSpPr>
          <p:cNvPr id="12" name="Text 10"/>
          <p:cNvSpPr/>
          <p:nvPr/>
        </p:nvSpPr>
        <p:spPr>
          <a:xfrm>
            <a:off x="4663440" y="2587752"/>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Sv</a:t>
            </a:r>
            <a:endParaRPr lang="en-US" sz="1700" dirty="0"/>
          </a:p>
        </p:txBody>
      </p:sp>
      <p:sp>
        <p:nvSpPr>
          <p:cNvPr id="13" name="Text 11"/>
          <p:cNvSpPr/>
          <p:nvPr/>
        </p:nvSpPr>
        <p:spPr>
          <a:xfrm>
            <a:off x="4663440" y="3383280"/>
            <a:ext cx="306324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Volume Backscattering</a:t>
            </a:r>
            <a:endParaRPr lang="en-US" sz="1500" dirty="0"/>
          </a:p>
        </p:txBody>
      </p:sp>
      <p:sp>
        <p:nvSpPr>
          <p:cNvPr id="14" name="Text 12"/>
          <p:cNvSpPr/>
          <p:nvPr/>
        </p:nvSpPr>
        <p:spPr>
          <a:xfrm>
            <a:off x="4663440" y="3840480"/>
            <a:ext cx="3063240" cy="1737360"/>
          </a:xfrm>
          <a:prstGeom prst="rect">
            <a:avLst/>
          </a:prstGeom>
          <a:noFill/>
          <a:ln/>
        </p:spPr>
        <p:txBody>
          <a:bodyPr wrap="square" rtlCol="0" anchor="ctr"/>
          <a:lstStyle/>
          <a:p>
            <a:pPr indent="0" marL="0">
              <a:lnSpc>
                <a:spcPct val="125000"/>
              </a:lnSpc>
              <a:buNone/>
            </a:pPr>
            <a:r>
              <a:rPr lang="en-US" sz="1150" dirty="0">
                <a:solidFill>
                  <a:srgbClr val="17232E"/>
                </a:solidFill>
                <a:latin typeface="Calibri" pitchFamily="34" charset="0"/>
                <a:ea typeface="Calibri" pitchFamily="34" charset="-122"/>
                <a:cs typeface="Calibri" pitchFamily="34" charset="-120"/>
              </a:rPr>
              <a:t>The combined echo from many scatterers in a sampled volume of water — zooplankton, fish schools, bubbles — used to estimate biomass density.</a:t>
            </a:r>
            <a:endParaRPr lang="en-US" sz="1150" dirty="0"/>
          </a:p>
        </p:txBody>
      </p:sp>
      <p:sp>
        <p:nvSpPr>
          <p:cNvPr id="15" name="Shape 13"/>
          <p:cNvSpPr/>
          <p:nvPr/>
        </p:nvSpPr>
        <p:spPr>
          <a:xfrm>
            <a:off x="8229600" y="2331720"/>
            <a:ext cx="3611880" cy="3383280"/>
          </a:xfrm>
          <a:prstGeom prst="roundRect">
            <a:avLst>
              <a:gd name="adj" fmla="val 2703"/>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6" name="Shape 14"/>
          <p:cNvSpPr/>
          <p:nvPr/>
        </p:nvSpPr>
        <p:spPr>
          <a:xfrm>
            <a:off x="8503920" y="2606040"/>
            <a:ext cx="640080" cy="640080"/>
          </a:xfrm>
          <a:prstGeom prst="ellipse">
            <a:avLst/>
          </a:prstGeom>
          <a:solidFill>
            <a:srgbClr val="065A82"/>
          </a:solidFill>
          <a:ln/>
        </p:spPr>
      </p:sp>
      <p:sp>
        <p:nvSpPr>
          <p:cNvPr id="17" name="Text 15"/>
          <p:cNvSpPr/>
          <p:nvPr/>
        </p:nvSpPr>
        <p:spPr>
          <a:xfrm>
            <a:off x="8503920" y="2587752"/>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θ/φ</a:t>
            </a:r>
            <a:endParaRPr lang="en-US" sz="1700" dirty="0"/>
          </a:p>
        </p:txBody>
      </p:sp>
      <p:sp>
        <p:nvSpPr>
          <p:cNvPr id="18" name="Text 16"/>
          <p:cNvSpPr/>
          <p:nvPr/>
        </p:nvSpPr>
        <p:spPr>
          <a:xfrm>
            <a:off x="8503920" y="3383280"/>
            <a:ext cx="306324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Beam Geometry</a:t>
            </a:r>
            <a:endParaRPr lang="en-US" sz="1500" dirty="0"/>
          </a:p>
        </p:txBody>
      </p:sp>
      <p:sp>
        <p:nvSpPr>
          <p:cNvPr id="19" name="Text 17"/>
          <p:cNvSpPr/>
          <p:nvPr/>
        </p:nvSpPr>
        <p:spPr>
          <a:xfrm>
            <a:off x="8503920" y="3840480"/>
            <a:ext cx="3063240" cy="1737360"/>
          </a:xfrm>
          <a:prstGeom prst="rect">
            <a:avLst/>
          </a:prstGeom>
          <a:noFill/>
          <a:ln/>
        </p:spPr>
        <p:txBody>
          <a:bodyPr wrap="square" rtlCol="0" anchor="ctr"/>
          <a:lstStyle/>
          <a:p>
            <a:pPr indent="0" marL="0">
              <a:lnSpc>
                <a:spcPct val="125000"/>
              </a:lnSpc>
              <a:buNone/>
            </a:pPr>
            <a:r>
              <a:rPr lang="en-US" sz="1150" dirty="0">
                <a:solidFill>
                  <a:srgbClr val="17232E"/>
                </a:solidFill>
                <a:latin typeface="Calibri" pitchFamily="34" charset="0"/>
                <a:ea typeface="Calibri" pitchFamily="34" charset="-122"/>
                <a:cs typeface="Calibri" pitchFamily="34" charset="-120"/>
              </a:rPr>
              <a:t>A split-beam transducer also recovers each echo's angular position in the beam, enabling single-target tracking and precise TS measurement.</a:t>
            </a:r>
            <a:endParaRPr lang="en-US" sz="1150" dirty="0"/>
          </a:p>
        </p:txBody>
      </p:sp>
      <p:sp>
        <p:nvSpPr>
          <p:cNvPr id="20" name="Text 18"/>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881360" y="548640"/>
            <a:ext cx="548640" cy="548640"/>
          </a:xfrm>
          <a:prstGeom prst="ellipse">
            <a:avLst/>
          </a:prstGeom>
          <a:ln w="15875">
            <a:solidFill>
              <a:srgbClr val="CFE6EF">
                <a:alpha val="16000"/>
              </a:srgbClr>
            </a:solidFill>
            <a:prstDash val="solid"/>
          </a:ln>
        </p:spPr>
      </p:sp>
      <p:sp>
        <p:nvSpPr>
          <p:cNvPr id="3" name="Shape 1"/>
          <p:cNvSpPr/>
          <p:nvPr/>
        </p:nvSpPr>
        <p:spPr>
          <a:xfrm>
            <a:off x="10497312" y="164592"/>
            <a:ext cx="1316736" cy="1316736"/>
          </a:xfrm>
          <a:prstGeom prst="ellipse">
            <a:avLst/>
          </a:prstGeom>
          <a:ln w="15875">
            <a:solidFill>
              <a:srgbClr val="CFE6EF">
                <a:alpha val="14000"/>
              </a:srgbClr>
            </a:solidFill>
            <a:prstDash val="solid"/>
          </a:ln>
        </p:spPr>
      </p:sp>
      <p:sp>
        <p:nvSpPr>
          <p:cNvPr id="4" name="Shape 2"/>
          <p:cNvSpPr/>
          <p:nvPr/>
        </p:nvSpPr>
        <p:spPr>
          <a:xfrm>
            <a:off x="10113264" y="-219456"/>
            <a:ext cx="2084832" cy="2084832"/>
          </a:xfrm>
          <a:prstGeom prst="ellipse">
            <a:avLst/>
          </a:prstGeom>
          <a:ln w="15875">
            <a:solidFill>
              <a:srgbClr val="CFE6EF">
                <a:alpha val="12000"/>
              </a:srgbClr>
            </a:solidFill>
            <a:prstDash val="solid"/>
          </a:ln>
        </p:spPr>
      </p:sp>
      <p:sp>
        <p:nvSpPr>
          <p:cNvPr id="5" name="Shape 3"/>
          <p:cNvSpPr/>
          <p:nvPr/>
        </p:nvSpPr>
        <p:spPr>
          <a:xfrm>
            <a:off x="9729216" y="-603504"/>
            <a:ext cx="2852928" cy="2852928"/>
          </a:xfrm>
          <a:prstGeom prst="ellipse">
            <a:avLst/>
          </a:prstGeom>
          <a:ln w="15875">
            <a:solidFill>
              <a:srgbClr val="CFE6EF">
                <a:alpha val="10000"/>
              </a:srgbClr>
            </a:solidFill>
            <a:prstDash val="solid"/>
          </a:ln>
        </p:spPr>
      </p:sp>
      <p:sp>
        <p:nvSpPr>
          <p:cNvPr id="6" name="Text 4"/>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E8985E"/>
                </a:solidFill>
                <a:latin typeface="Calibri" pitchFamily="34" charset="0"/>
                <a:ea typeface="Calibri" pitchFamily="34" charset="-122"/>
                <a:cs typeface="Calibri" pitchFamily="34" charset="-120"/>
              </a:rPr>
              <a:t>THE KONGSBERG EK80 SYSTEM</a:t>
            </a:r>
            <a:endParaRPr lang="en-US" sz="1250" dirty="0"/>
          </a:p>
        </p:txBody>
      </p:sp>
      <p:sp>
        <p:nvSpPr>
          <p:cNvPr id="7" name="Text 5"/>
          <p:cNvSpPr/>
          <p:nvPr/>
        </p:nvSpPr>
        <p:spPr>
          <a:xfrm>
            <a:off x="548640" y="658368"/>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single frequencies to a wideband instrument</a:t>
            </a:r>
            <a:endParaRPr lang="en-US" sz="3200" dirty="0"/>
          </a:p>
        </p:txBody>
      </p:sp>
      <p:sp>
        <p:nvSpPr>
          <p:cNvPr id="8" name="Text 6"/>
          <p:cNvSpPr/>
          <p:nvPr/>
        </p:nvSpPr>
        <p:spPr>
          <a:xfrm>
            <a:off x="548640" y="1691640"/>
            <a:ext cx="6492240" cy="2103120"/>
          </a:xfrm>
          <a:prstGeom prst="rect">
            <a:avLst/>
          </a:prstGeom>
          <a:noFill/>
          <a:ln/>
        </p:spPr>
        <p:txBody>
          <a:bodyPr wrap="square" rtlCol="0" anchor="ctr"/>
          <a:lstStyle/>
          <a:p>
            <a:pPr indent="0" marL="0">
              <a:lnSpc>
                <a:spcPct val="132000"/>
              </a:lnSpc>
              <a:buNone/>
            </a:pPr>
            <a:r>
              <a:rPr lang="en-US" sz="1400" dirty="0">
                <a:solidFill>
                  <a:srgbClr val="CFE6EF"/>
                </a:solidFill>
                <a:latin typeface="Calibri" pitchFamily="34" charset="0"/>
                <a:ea typeface="Calibri" pitchFamily="34" charset="-122"/>
                <a:cs typeface="Calibri" pitchFamily="34" charset="-120"/>
              </a:rPr>
              <a:t>The Simrad EK80, built by Kongsberg, is a scientific echo sounder and ADCP system that succeeded the EK60 — for decades the international standard for fish-stock assessment. Where the EK60 sampled a handful of fixed frequencies, the EK80 processes a continuous frequency band on every transducer, sweeping far more acoustic information out of the same water column.</a:t>
            </a:r>
            <a:endParaRPr lang="en-US" sz="1400" dirty="0"/>
          </a:p>
        </p:txBody>
      </p:sp>
      <p:sp>
        <p:nvSpPr>
          <p:cNvPr id="9" name="Shape 7"/>
          <p:cNvSpPr/>
          <p:nvPr/>
        </p:nvSpPr>
        <p:spPr>
          <a:xfrm>
            <a:off x="548640" y="4050792"/>
            <a:ext cx="91440" cy="91440"/>
          </a:xfrm>
          <a:prstGeom prst="ellipse">
            <a:avLst/>
          </a:prstGeom>
          <a:solidFill>
            <a:srgbClr val="E8985E"/>
          </a:solidFill>
          <a:ln/>
        </p:spPr>
      </p:sp>
      <p:sp>
        <p:nvSpPr>
          <p:cNvPr id="10" name="Text 8"/>
          <p:cNvSpPr/>
          <p:nvPr/>
        </p:nvSpPr>
        <p:spPr>
          <a:xfrm>
            <a:off x="822960" y="3904488"/>
            <a:ext cx="6309360" cy="457200"/>
          </a:xfrm>
          <a:prstGeom prst="rect">
            <a:avLst/>
          </a:prstGeom>
          <a:noFill/>
          <a:ln/>
        </p:spPr>
        <p:txBody>
          <a:bodyPr wrap="square"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Modular system: multiple transceivers and transducers operate through one operator station</a:t>
            </a:r>
            <a:endParaRPr lang="en-US" sz="1250" dirty="0"/>
          </a:p>
        </p:txBody>
      </p:sp>
      <p:sp>
        <p:nvSpPr>
          <p:cNvPr id="11" name="Shape 9"/>
          <p:cNvSpPr/>
          <p:nvPr/>
        </p:nvSpPr>
        <p:spPr>
          <a:xfrm>
            <a:off x="548640" y="4617720"/>
            <a:ext cx="91440" cy="91440"/>
          </a:xfrm>
          <a:prstGeom prst="ellipse">
            <a:avLst/>
          </a:prstGeom>
          <a:solidFill>
            <a:srgbClr val="E8985E"/>
          </a:solidFill>
          <a:ln/>
        </p:spPr>
      </p:sp>
      <p:sp>
        <p:nvSpPr>
          <p:cNvPr id="12" name="Text 10"/>
          <p:cNvSpPr/>
          <p:nvPr/>
        </p:nvSpPr>
        <p:spPr>
          <a:xfrm>
            <a:off x="822960" y="4471416"/>
            <a:ext cx="6309360" cy="457200"/>
          </a:xfrm>
          <a:prstGeom prst="rect">
            <a:avLst/>
          </a:prstGeom>
          <a:noFill/>
          <a:ln/>
        </p:spPr>
        <p:txBody>
          <a:bodyPr wrap="square"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Backward-compatible with EK60-era General Purpose Transceivers (GPT) as well as new Wide Band Transceivers (WBT)</a:t>
            </a:r>
            <a:endParaRPr lang="en-US" sz="1250" dirty="0"/>
          </a:p>
        </p:txBody>
      </p:sp>
      <p:sp>
        <p:nvSpPr>
          <p:cNvPr id="13" name="Shape 11"/>
          <p:cNvSpPr/>
          <p:nvPr/>
        </p:nvSpPr>
        <p:spPr>
          <a:xfrm>
            <a:off x="548640" y="5184648"/>
            <a:ext cx="91440" cy="91440"/>
          </a:xfrm>
          <a:prstGeom prst="ellipse">
            <a:avLst/>
          </a:prstGeom>
          <a:solidFill>
            <a:srgbClr val="E8985E"/>
          </a:solidFill>
          <a:ln/>
        </p:spPr>
      </p:sp>
      <p:sp>
        <p:nvSpPr>
          <p:cNvPr id="14" name="Text 12"/>
          <p:cNvSpPr/>
          <p:nvPr/>
        </p:nvSpPr>
        <p:spPr>
          <a:xfrm>
            <a:off x="822960" y="5038344"/>
            <a:ext cx="6309360" cy="457200"/>
          </a:xfrm>
          <a:prstGeom prst="rect">
            <a:avLst/>
          </a:prstGeom>
          <a:noFill/>
          <a:ln/>
        </p:spPr>
        <p:txBody>
          <a:bodyPr wrap="square"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A vessel-mounted system typically runs six transducers, each covering a different part of the band</a:t>
            </a:r>
            <a:endParaRPr lang="en-US" sz="1250" dirty="0"/>
          </a:p>
        </p:txBody>
      </p:sp>
      <p:sp>
        <p:nvSpPr>
          <p:cNvPr id="15" name="Shape 13"/>
          <p:cNvSpPr/>
          <p:nvPr/>
        </p:nvSpPr>
        <p:spPr>
          <a:xfrm>
            <a:off x="7406640" y="1691640"/>
            <a:ext cx="4251960" cy="4343400"/>
          </a:xfrm>
          <a:prstGeom prst="roundRect">
            <a:avLst>
              <a:gd name="adj" fmla="val 2151"/>
            </a:avLst>
          </a:prstGeom>
          <a:solidFill>
            <a:srgbClr val="1A2350"/>
          </a:solidFill>
          <a:ln w="12700">
            <a:solidFill>
              <a:srgbClr val="1C7293"/>
            </a:solidFill>
            <a:prstDash val="solid"/>
          </a:ln>
        </p:spPr>
      </p:sp>
      <p:sp>
        <p:nvSpPr>
          <p:cNvPr id="16" name="Text 14"/>
          <p:cNvSpPr/>
          <p:nvPr/>
        </p:nvSpPr>
        <p:spPr>
          <a:xfrm>
            <a:off x="7680960" y="1965960"/>
            <a:ext cx="3749040" cy="274320"/>
          </a:xfrm>
          <a:prstGeom prst="rect">
            <a:avLst/>
          </a:prstGeom>
          <a:noFill/>
          <a:ln/>
        </p:spPr>
        <p:txBody>
          <a:bodyPr wrap="square" rtlCol="0" anchor="ctr"/>
          <a:lstStyle/>
          <a:p>
            <a:pPr indent="0" marL="0">
              <a:buNone/>
            </a:pPr>
            <a:r>
              <a:rPr lang="en-US" sz="1100" b="1" spc="200" kern="0" dirty="0">
                <a:solidFill>
                  <a:srgbClr val="E8985E"/>
                </a:solidFill>
                <a:latin typeface="Calibri" pitchFamily="34" charset="0"/>
                <a:ea typeface="Calibri" pitchFamily="34" charset="-122"/>
                <a:cs typeface="Calibri" pitchFamily="34" charset="-120"/>
              </a:rPr>
              <a:t>OPERATIONAL RANGE</a:t>
            </a:r>
            <a:endParaRPr lang="en-US" sz="1100" dirty="0"/>
          </a:p>
        </p:txBody>
      </p:sp>
      <p:sp>
        <p:nvSpPr>
          <p:cNvPr id="17" name="Text 15"/>
          <p:cNvSpPr/>
          <p:nvPr/>
        </p:nvSpPr>
        <p:spPr>
          <a:xfrm>
            <a:off x="7635240" y="2240280"/>
            <a:ext cx="384048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10–500</a:t>
            </a:r>
            <a:endParaRPr lang="en-US" sz="5200" dirty="0"/>
          </a:p>
        </p:txBody>
      </p:sp>
      <p:sp>
        <p:nvSpPr>
          <p:cNvPr id="18" name="Text 16"/>
          <p:cNvSpPr/>
          <p:nvPr/>
        </p:nvSpPr>
        <p:spPr>
          <a:xfrm>
            <a:off x="7680960" y="3154680"/>
            <a:ext cx="3703320" cy="594360"/>
          </a:xfrm>
          <a:prstGeom prst="rect">
            <a:avLst/>
          </a:prstGeom>
          <a:noFill/>
          <a:ln/>
        </p:spPr>
        <p:txBody>
          <a:bodyPr wrap="square" rtlCol="0" anchor="ctr"/>
          <a:lstStyle/>
          <a:p>
            <a:pPr indent="0" marL="0">
              <a:lnSpc>
                <a:spcPct val="120000"/>
              </a:lnSpc>
              <a:buNone/>
            </a:pPr>
            <a:r>
              <a:rPr lang="en-US" sz="1200" dirty="0">
                <a:solidFill>
                  <a:srgbClr val="CFE6EF"/>
                </a:solidFill>
                <a:latin typeface="Calibri" pitchFamily="34" charset="0"/>
                <a:ea typeface="Calibri" pitchFamily="34" charset="-122"/>
                <a:cs typeface="Calibri" pitchFamily="34" charset="-120"/>
              </a:rPr>
              <a:t>kilohertz, spanned simultaneously across the system's transducers</a:t>
            </a:r>
            <a:endParaRPr lang="en-US" sz="1200" dirty="0"/>
          </a:p>
        </p:txBody>
      </p:sp>
      <p:sp>
        <p:nvSpPr>
          <p:cNvPr id="19" name="Shape 17"/>
          <p:cNvSpPr/>
          <p:nvPr/>
        </p:nvSpPr>
        <p:spPr>
          <a:xfrm>
            <a:off x="7680960" y="3886200"/>
            <a:ext cx="3703320" cy="0"/>
          </a:xfrm>
          <a:prstGeom prst="line">
            <a:avLst/>
          </a:prstGeom>
          <a:noFill/>
          <a:ln w="12700">
            <a:solidFill>
              <a:srgbClr val="1C7293">
                <a:alpha val="60000"/>
              </a:srgbClr>
            </a:solidFill>
            <a:prstDash val="solid"/>
          </a:ln>
        </p:spPr>
      </p:sp>
      <p:sp>
        <p:nvSpPr>
          <p:cNvPr id="20" name="Text 18"/>
          <p:cNvSpPr/>
          <p:nvPr/>
        </p:nvSpPr>
        <p:spPr>
          <a:xfrm>
            <a:off x="7680960" y="4069080"/>
            <a:ext cx="3703320" cy="274320"/>
          </a:xfrm>
          <a:prstGeom prst="rect">
            <a:avLst/>
          </a:prstGeom>
          <a:noFill/>
          <a:ln/>
        </p:spPr>
        <p:txBody>
          <a:bodyPr wrap="square" rtlCol="0" anchor="ctr"/>
          <a:lstStyle/>
          <a:p>
            <a:pPr indent="0" marL="0">
              <a:buNone/>
            </a:pPr>
            <a:r>
              <a:rPr lang="en-US" sz="1100" b="1" spc="200" kern="0" dirty="0">
                <a:solidFill>
                  <a:srgbClr val="E8985E"/>
                </a:solidFill>
                <a:latin typeface="Calibri" pitchFamily="34" charset="0"/>
                <a:ea typeface="Calibri" pitchFamily="34" charset="-122"/>
                <a:cs typeface="Calibri" pitchFamily="34" charset="-120"/>
              </a:rPr>
              <a:t>PREDECESSOR</a:t>
            </a:r>
            <a:endParaRPr lang="en-US" sz="1100" dirty="0"/>
          </a:p>
        </p:txBody>
      </p:sp>
      <p:sp>
        <p:nvSpPr>
          <p:cNvPr id="21" name="Text 19"/>
          <p:cNvSpPr/>
          <p:nvPr/>
        </p:nvSpPr>
        <p:spPr>
          <a:xfrm>
            <a:off x="7680960" y="4343400"/>
            <a:ext cx="3703320" cy="1554480"/>
          </a:xfrm>
          <a:prstGeom prst="rect">
            <a:avLst/>
          </a:prstGeom>
          <a:noFill/>
          <a:ln/>
        </p:spPr>
        <p:txBody>
          <a:bodyPr wrap="square" rtlCol="0" anchor="ctr"/>
          <a:lstStyle/>
          <a:p>
            <a:pPr indent="0" marL="0">
              <a:lnSpc>
                <a:spcPct val="125000"/>
              </a:lnSpc>
              <a:buNone/>
            </a:pPr>
            <a:r>
              <a:rPr lang="en-US" sz="1200" dirty="0">
                <a:solidFill>
                  <a:srgbClr val="CFE6EF"/>
                </a:solidFill>
                <a:latin typeface="Calibri" pitchFamily="34" charset="0"/>
                <a:ea typeface="Calibri" pitchFamily="34" charset="-122"/>
                <a:cs typeface="Calibri" pitchFamily="34" charset="-120"/>
              </a:rPr>
              <a:t>Simrad EK60 — over 1,100 units sold to research vessels worldwide; an upgrade path exists for EK60 vessels moving to EK80.</a:t>
            </a:r>
            <a:endParaRPr lang="en-US" sz="1200" dirty="0"/>
          </a:p>
        </p:txBody>
      </p:sp>
      <p:sp>
        <p:nvSpPr>
          <p:cNvPr id="22" name="Text 20"/>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KONGSBERG EK80 SYSTEM</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wideband idea: resolution without a short pulse</a:t>
            </a:r>
            <a:endParaRPr lang="en-US" sz="3200" dirty="0"/>
          </a:p>
        </p:txBody>
      </p:sp>
      <p:sp>
        <p:nvSpPr>
          <p:cNvPr id="4" name="Text 2"/>
          <p:cNvSpPr/>
          <p:nvPr/>
        </p:nvSpPr>
        <p:spPr>
          <a:xfrm>
            <a:off x="548640" y="1554480"/>
            <a:ext cx="10789920" cy="685800"/>
          </a:xfrm>
          <a:prstGeom prst="rect">
            <a:avLst/>
          </a:prstGeom>
          <a:noFill/>
          <a:ln/>
        </p:spPr>
        <p:txBody>
          <a:bodyPr wrap="square" rtlCol="0" anchor="ctr"/>
          <a:lstStyle/>
          <a:p>
            <a:pPr indent="0" marL="0">
              <a:lnSpc>
                <a:spcPct val="125000"/>
              </a:lnSpc>
              <a:buNone/>
            </a:pPr>
            <a:r>
              <a:rPr lang="en-US" sz="1350" dirty="0">
                <a:solidFill>
                  <a:srgbClr val="17232E"/>
                </a:solidFill>
                <a:latin typeface="Calibri" pitchFamily="34" charset="0"/>
                <a:ea typeface="Calibri" pitchFamily="34" charset="-122"/>
                <a:cs typeface="Calibri" pitchFamily="34" charset="-120"/>
              </a:rPr>
              <a:t>Classic narrowband sonars trade range resolution for signal energy — a shorter pulse resolves finer detail but carries less energy, and vice-versa. EK80's wideband (FM “chirp”) mode breaks that trade-off.</a:t>
            </a:r>
            <a:endParaRPr lang="en-US" sz="1350" dirty="0"/>
          </a:p>
        </p:txBody>
      </p:sp>
      <p:sp>
        <p:nvSpPr>
          <p:cNvPr id="5" name="Shape 3"/>
          <p:cNvSpPr/>
          <p:nvPr/>
        </p:nvSpPr>
        <p:spPr>
          <a:xfrm>
            <a:off x="548640" y="2377440"/>
            <a:ext cx="5257800" cy="3977640"/>
          </a:xfrm>
          <a:prstGeom prst="roundRect">
            <a:avLst>
              <a:gd name="adj" fmla="val 2299"/>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6" name="Shape 4"/>
          <p:cNvSpPr/>
          <p:nvPr/>
        </p:nvSpPr>
        <p:spPr>
          <a:xfrm>
            <a:off x="868680" y="2651760"/>
            <a:ext cx="566928" cy="566928"/>
          </a:xfrm>
          <a:prstGeom prst="ellipse">
            <a:avLst/>
          </a:prstGeom>
          <a:solidFill>
            <a:srgbClr val="1C7293"/>
          </a:solidFill>
          <a:ln/>
        </p:spPr>
      </p:sp>
      <p:sp>
        <p:nvSpPr>
          <p:cNvPr id="7" name="Text 5"/>
          <p:cNvSpPr/>
          <p:nvPr/>
        </p:nvSpPr>
        <p:spPr>
          <a:xfrm>
            <a:off x="868680" y="26334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CW</a:t>
            </a:r>
            <a:endParaRPr lang="en-US" sz="1400" dirty="0"/>
          </a:p>
        </p:txBody>
      </p:sp>
      <p:sp>
        <p:nvSpPr>
          <p:cNvPr id="8" name="Text 6"/>
          <p:cNvSpPr/>
          <p:nvPr/>
        </p:nvSpPr>
        <p:spPr>
          <a:xfrm>
            <a:off x="1600200" y="2651760"/>
            <a:ext cx="3977640" cy="566928"/>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Narrowband (CW)</a:t>
            </a:r>
            <a:endParaRPr lang="en-US" sz="1800" dirty="0"/>
          </a:p>
        </p:txBody>
      </p:sp>
      <p:sp>
        <p:nvSpPr>
          <p:cNvPr id="9" name="Shape 7"/>
          <p:cNvSpPr/>
          <p:nvPr/>
        </p:nvSpPr>
        <p:spPr>
          <a:xfrm>
            <a:off x="868680" y="3511296"/>
            <a:ext cx="82296" cy="82296"/>
          </a:xfrm>
          <a:prstGeom prst="ellipse">
            <a:avLst/>
          </a:prstGeom>
          <a:solidFill>
            <a:srgbClr val="1C7293"/>
          </a:solidFill>
          <a:ln/>
        </p:spPr>
      </p:sp>
      <p:sp>
        <p:nvSpPr>
          <p:cNvPr id="10" name="Text 8"/>
          <p:cNvSpPr/>
          <p:nvPr/>
        </p:nvSpPr>
        <p:spPr>
          <a:xfrm>
            <a:off x="1115568" y="3355848"/>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Single fixed frequency per pulse</a:t>
            </a:r>
            <a:endParaRPr lang="en-US" sz="1250" dirty="0"/>
          </a:p>
        </p:txBody>
      </p:sp>
      <p:sp>
        <p:nvSpPr>
          <p:cNvPr id="11" name="Shape 9"/>
          <p:cNvSpPr/>
          <p:nvPr/>
        </p:nvSpPr>
        <p:spPr>
          <a:xfrm>
            <a:off x="868680" y="4169664"/>
            <a:ext cx="82296" cy="82296"/>
          </a:xfrm>
          <a:prstGeom prst="ellipse">
            <a:avLst/>
          </a:prstGeom>
          <a:solidFill>
            <a:srgbClr val="1C7293"/>
          </a:solidFill>
          <a:ln/>
        </p:spPr>
      </p:sp>
      <p:sp>
        <p:nvSpPr>
          <p:cNvPr id="12" name="Text 10"/>
          <p:cNvSpPr/>
          <p:nvPr/>
        </p:nvSpPr>
        <p:spPr>
          <a:xfrm>
            <a:off x="1115568" y="4014216"/>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Range resolution set only by pulse duration</a:t>
            </a:r>
            <a:endParaRPr lang="en-US" sz="1250" dirty="0"/>
          </a:p>
        </p:txBody>
      </p:sp>
      <p:sp>
        <p:nvSpPr>
          <p:cNvPr id="13" name="Shape 11"/>
          <p:cNvSpPr/>
          <p:nvPr/>
        </p:nvSpPr>
        <p:spPr>
          <a:xfrm>
            <a:off x="868680" y="4828032"/>
            <a:ext cx="82296" cy="82296"/>
          </a:xfrm>
          <a:prstGeom prst="ellipse">
            <a:avLst/>
          </a:prstGeom>
          <a:solidFill>
            <a:srgbClr val="1C7293"/>
          </a:solidFill>
          <a:ln/>
        </p:spPr>
      </p:sp>
      <p:sp>
        <p:nvSpPr>
          <p:cNvPr id="14" name="Text 12"/>
          <p:cNvSpPr/>
          <p:nvPr/>
        </p:nvSpPr>
        <p:spPr>
          <a:xfrm>
            <a:off x="1115568" y="4672584"/>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Compatible with legacy EK60 data time-series</a:t>
            </a:r>
            <a:endParaRPr lang="en-US" sz="1250" dirty="0"/>
          </a:p>
        </p:txBody>
      </p:sp>
      <p:sp>
        <p:nvSpPr>
          <p:cNvPr id="15" name="Shape 13"/>
          <p:cNvSpPr/>
          <p:nvPr/>
        </p:nvSpPr>
        <p:spPr>
          <a:xfrm>
            <a:off x="868680" y="5486400"/>
            <a:ext cx="82296" cy="82296"/>
          </a:xfrm>
          <a:prstGeom prst="ellipse">
            <a:avLst/>
          </a:prstGeom>
          <a:solidFill>
            <a:srgbClr val="1C7293"/>
          </a:solidFill>
          <a:ln/>
        </p:spPr>
      </p:sp>
      <p:sp>
        <p:nvSpPr>
          <p:cNvPr id="16" name="Text 14"/>
          <p:cNvSpPr/>
          <p:nvPr/>
        </p:nvSpPr>
        <p:spPr>
          <a:xfrm>
            <a:off x="1115568" y="5330952"/>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Limited frequency information for target ID</a:t>
            </a:r>
            <a:endParaRPr lang="en-US" sz="1250" dirty="0"/>
          </a:p>
        </p:txBody>
      </p:sp>
      <p:sp>
        <p:nvSpPr>
          <p:cNvPr id="17" name="Shape 15"/>
          <p:cNvSpPr/>
          <p:nvPr/>
        </p:nvSpPr>
        <p:spPr>
          <a:xfrm>
            <a:off x="6355080" y="2377440"/>
            <a:ext cx="5257800" cy="3977640"/>
          </a:xfrm>
          <a:prstGeom prst="roundRect">
            <a:avLst>
              <a:gd name="adj" fmla="val 2299"/>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8" name="Shape 16"/>
          <p:cNvSpPr/>
          <p:nvPr/>
        </p:nvSpPr>
        <p:spPr>
          <a:xfrm>
            <a:off x="6675120" y="2651760"/>
            <a:ext cx="566928" cy="566928"/>
          </a:xfrm>
          <a:prstGeom prst="ellipse">
            <a:avLst/>
          </a:prstGeom>
          <a:solidFill>
            <a:srgbClr val="E8985E"/>
          </a:solidFill>
          <a:ln/>
        </p:spPr>
      </p:sp>
      <p:sp>
        <p:nvSpPr>
          <p:cNvPr id="19" name="Text 17"/>
          <p:cNvSpPr/>
          <p:nvPr/>
        </p:nvSpPr>
        <p:spPr>
          <a:xfrm>
            <a:off x="6675120" y="26334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FM</a:t>
            </a:r>
            <a:endParaRPr lang="en-US" sz="1400" dirty="0"/>
          </a:p>
        </p:txBody>
      </p:sp>
      <p:sp>
        <p:nvSpPr>
          <p:cNvPr id="20" name="Text 18"/>
          <p:cNvSpPr/>
          <p:nvPr/>
        </p:nvSpPr>
        <p:spPr>
          <a:xfrm>
            <a:off x="7406640" y="2651760"/>
            <a:ext cx="3977640" cy="566928"/>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Wideband (FM chirp)</a:t>
            </a:r>
            <a:endParaRPr lang="en-US" sz="1800" dirty="0"/>
          </a:p>
        </p:txBody>
      </p:sp>
      <p:sp>
        <p:nvSpPr>
          <p:cNvPr id="21" name="Shape 19"/>
          <p:cNvSpPr/>
          <p:nvPr/>
        </p:nvSpPr>
        <p:spPr>
          <a:xfrm>
            <a:off x="6675120" y="3511296"/>
            <a:ext cx="82296" cy="82296"/>
          </a:xfrm>
          <a:prstGeom prst="ellipse">
            <a:avLst/>
          </a:prstGeom>
          <a:solidFill>
            <a:srgbClr val="E8985E"/>
          </a:solidFill>
          <a:ln/>
        </p:spPr>
      </p:sp>
      <p:sp>
        <p:nvSpPr>
          <p:cNvPr id="22" name="Text 20"/>
          <p:cNvSpPr/>
          <p:nvPr/>
        </p:nvSpPr>
        <p:spPr>
          <a:xfrm>
            <a:off x="6922008" y="3355848"/>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Frequency swept continuously across a band</a:t>
            </a:r>
            <a:endParaRPr lang="en-US" sz="1250" dirty="0"/>
          </a:p>
        </p:txBody>
      </p:sp>
      <p:sp>
        <p:nvSpPr>
          <p:cNvPr id="23" name="Shape 21"/>
          <p:cNvSpPr/>
          <p:nvPr/>
        </p:nvSpPr>
        <p:spPr>
          <a:xfrm>
            <a:off x="6675120" y="4169664"/>
            <a:ext cx="82296" cy="82296"/>
          </a:xfrm>
          <a:prstGeom prst="ellipse">
            <a:avLst/>
          </a:prstGeom>
          <a:solidFill>
            <a:srgbClr val="E8985E"/>
          </a:solidFill>
          <a:ln/>
        </p:spPr>
      </p:sp>
      <p:sp>
        <p:nvSpPr>
          <p:cNvPr id="24" name="Text 22"/>
          <p:cNvSpPr/>
          <p:nvPr/>
        </p:nvSpPr>
        <p:spPr>
          <a:xfrm>
            <a:off x="6922008" y="4014216"/>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Resolution set by bandwidth, not pulse length</a:t>
            </a:r>
            <a:endParaRPr lang="en-US" sz="1250" dirty="0"/>
          </a:p>
        </p:txBody>
      </p:sp>
      <p:sp>
        <p:nvSpPr>
          <p:cNvPr id="25" name="Shape 23"/>
          <p:cNvSpPr/>
          <p:nvPr/>
        </p:nvSpPr>
        <p:spPr>
          <a:xfrm>
            <a:off x="6675120" y="4828032"/>
            <a:ext cx="82296" cy="82296"/>
          </a:xfrm>
          <a:prstGeom prst="ellipse">
            <a:avLst/>
          </a:prstGeom>
          <a:solidFill>
            <a:srgbClr val="E8985E"/>
          </a:solidFill>
          <a:ln/>
        </p:spPr>
      </p:sp>
      <p:sp>
        <p:nvSpPr>
          <p:cNvPr id="26" name="Text 24"/>
          <p:cNvSpPr/>
          <p:nvPr/>
        </p:nvSpPr>
        <p:spPr>
          <a:xfrm>
            <a:off x="6922008" y="4672584"/>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Strong signal-to-noise from pulse compression</a:t>
            </a:r>
            <a:endParaRPr lang="en-US" sz="1250" dirty="0"/>
          </a:p>
        </p:txBody>
      </p:sp>
      <p:sp>
        <p:nvSpPr>
          <p:cNvPr id="27" name="Shape 25"/>
          <p:cNvSpPr/>
          <p:nvPr/>
        </p:nvSpPr>
        <p:spPr>
          <a:xfrm>
            <a:off x="6675120" y="5486400"/>
            <a:ext cx="82296" cy="82296"/>
          </a:xfrm>
          <a:prstGeom prst="ellipse">
            <a:avLst/>
          </a:prstGeom>
          <a:solidFill>
            <a:srgbClr val="E8985E"/>
          </a:solidFill>
          <a:ln/>
        </p:spPr>
      </p:sp>
      <p:sp>
        <p:nvSpPr>
          <p:cNvPr id="28" name="Text 26"/>
          <p:cNvSpPr/>
          <p:nvPr/>
        </p:nvSpPr>
        <p:spPr>
          <a:xfrm>
            <a:off x="6922008" y="5330952"/>
            <a:ext cx="4343400" cy="502920"/>
          </a:xfrm>
          <a:prstGeom prst="rect">
            <a:avLst/>
          </a:prstGeom>
          <a:noFill/>
          <a:ln/>
        </p:spPr>
        <p:txBody>
          <a:bodyPr wrap="square" rtlCol="0" anchor="ctr"/>
          <a:lstStyle/>
          <a:p>
            <a:pPr indent="0" marL="0">
              <a:lnSpc>
                <a:spcPct val="120000"/>
              </a:lnSpc>
              <a:buNone/>
            </a:pPr>
            <a:r>
              <a:rPr lang="en-US" sz="1250" dirty="0">
                <a:solidFill>
                  <a:srgbClr val="17232E"/>
                </a:solidFill>
                <a:latin typeface="Calibri" pitchFamily="34" charset="0"/>
                <a:ea typeface="Calibri" pitchFamily="34" charset="-122"/>
                <a:cs typeface="Calibri" pitchFamily="34" charset="-120"/>
              </a:rPr>
              <a:t>Continuous frequency response aids species/target classification</a:t>
            </a:r>
            <a:endParaRPr lang="en-US" sz="1250" dirty="0"/>
          </a:p>
        </p:txBody>
      </p:sp>
      <p:sp>
        <p:nvSpPr>
          <p:cNvPr id="29" name="Text 27"/>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KONGSBERG EK80 SYSTEM</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System architecture, end to end</a:t>
            </a:r>
            <a:endParaRPr lang="en-US" sz="3200" dirty="0"/>
          </a:p>
        </p:txBody>
      </p:sp>
      <p:sp>
        <p:nvSpPr>
          <p:cNvPr id="4" name="Shape 2"/>
          <p:cNvSpPr/>
          <p:nvPr/>
        </p:nvSpPr>
        <p:spPr>
          <a:xfrm>
            <a:off x="548640" y="2011680"/>
            <a:ext cx="2697480" cy="4023360"/>
          </a:xfrm>
          <a:prstGeom prst="roundRect">
            <a:avLst>
              <a:gd name="adj" fmla="val 3390"/>
            </a:avLst>
          </a:prstGeom>
          <a:solidFill>
            <a:srgbClr val="21295C"/>
          </a:solidFill>
          <a:ln/>
          <a:effectLst>
            <a:outerShdw sx="100000" sy="100000" kx="0" ky="0" algn="bl" rotWithShape="0" blurRad="76200" dist="25400" dir="5400000">
              <a:srgbClr val="1B2A38">
                <a:alpha val="15000"/>
              </a:srgbClr>
            </a:outerShdw>
          </a:effectLst>
        </p:spPr>
      </p:sp>
      <p:sp>
        <p:nvSpPr>
          <p:cNvPr id="5" name="Text 3"/>
          <p:cNvSpPr/>
          <p:nvPr/>
        </p:nvSpPr>
        <p:spPr>
          <a:xfrm>
            <a:off x="777240" y="2194560"/>
            <a:ext cx="1097280" cy="731520"/>
          </a:xfrm>
          <a:prstGeom prst="rect">
            <a:avLst/>
          </a:prstGeom>
          <a:noFill/>
          <a:ln/>
        </p:spPr>
        <p:txBody>
          <a:bodyPr wrap="square" rtlCol="0" anchor="ctr"/>
          <a:lstStyle/>
          <a:p>
            <a:pPr indent="0" marL="0">
              <a:buNone/>
            </a:pPr>
            <a:r>
              <a:rPr lang="en-US" sz="3400" b="1" dirty="0">
                <a:solidFill>
                  <a:srgbClr val="E8985E"/>
                </a:solidFill>
                <a:latin typeface="Cambria" pitchFamily="34" charset="0"/>
                <a:ea typeface="Cambria" pitchFamily="34" charset="-122"/>
                <a:cs typeface="Cambria" pitchFamily="34" charset="-120"/>
              </a:rPr>
              <a:t>1</a:t>
            </a:r>
            <a:endParaRPr lang="en-US" sz="3400" dirty="0"/>
          </a:p>
        </p:txBody>
      </p:sp>
      <p:sp>
        <p:nvSpPr>
          <p:cNvPr id="6" name="Text 4"/>
          <p:cNvSpPr/>
          <p:nvPr/>
        </p:nvSpPr>
        <p:spPr>
          <a:xfrm>
            <a:off x="777240" y="2926080"/>
            <a:ext cx="2240280"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Transducer(s)</a:t>
            </a:r>
            <a:endParaRPr lang="en-US" sz="1400" dirty="0"/>
          </a:p>
        </p:txBody>
      </p:sp>
      <p:sp>
        <p:nvSpPr>
          <p:cNvPr id="7" name="Text 5"/>
          <p:cNvSpPr/>
          <p:nvPr/>
        </p:nvSpPr>
        <p:spPr>
          <a:xfrm>
            <a:off x="777240" y="3566160"/>
            <a:ext cx="2240280" cy="2286000"/>
          </a:xfrm>
          <a:prstGeom prst="rect">
            <a:avLst/>
          </a:prstGeom>
          <a:noFill/>
          <a:ln/>
        </p:spPr>
        <p:txBody>
          <a:bodyPr wrap="square" rtlCol="0" anchor="ctr"/>
          <a:lstStyle/>
          <a:p>
            <a:pPr indent="0" marL="0">
              <a:lnSpc>
                <a:spcPct val="125000"/>
              </a:lnSpc>
              <a:buNone/>
            </a:pPr>
            <a:r>
              <a:rPr lang="en-US" sz="1100" dirty="0">
                <a:solidFill>
                  <a:srgbClr val="CFE6EF"/>
                </a:solidFill>
                <a:latin typeface="Calibri" pitchFamily="34" charset="0"/>
                <a:ea typeface="Calibri" pitchFamily="34" charset="-122"/>
                <a:cs typeface="Calibri" pitchFamily="34" charset="-120"/>
              </a:rPr>
              <a:t>Converts electrical signal to sound and back. EK80 supports single- and split-beam transducers across the 10–500 kHz band — typically several per vessel.</a:t>
            </a:r>
            <a:endParaRPr lang="en-US" sz="1100" dirty="0"/>
          </a:p>
        </p:txBody>
      </p:sp>
      <p:sp>
        <p:nvSpPr>
          <p:cNvPr id="8" name="Shape 6"/>
          <p:cNvSpPr/>
          <p:nvPr/>
        </p:nvSpPr>
        <p:spPr>
          <a:xfrm>
            <a:off x="3296412" y="3977640"/>
            <a:ext cx="0" cy="0"/>
          </a:xfrm>
          <a:prstGeom prst="line">
            <a:avLst/>
          </a:prstGeom>
          <a:noFill/>
          <a:ln w="12700">
            <a:solidFill>
              <a:srgbClr val="5C7A90"/>
            </a:solidFill>
            <a:prstDash val="solid"/>
          </a:ln>
        </p:spPr>
      </p:sp>
      <p:sp>
        <p:nvSpPr>
          <p:cNvPr id="9" name="Shape 7"/>
          <p:cNvSpPr/>
          <p:nvPr/>
        </p:nvSpPr>
        <p:spPr>
          <a:xfrm>
            <a:off x="3383280" y="2011680"/>
            <a:ext cx="2697480" cy="4023360"/>
          </a:xfrm>
          <a:prstGeom prst="roundRect">
            <a:avLst>
              <a:gd name="adj" fmla="val 3390"/>
            </a:avLst>
          </a:prstGeom>
          <a:solidFill>
            <a:srgbClr val="065A82"/>
          </a:solidFill>
          <a:ln/>
          <a:effectLst>
            <a:outerShdw sx="100000" sy="100000" kx="0" ky="0" algn="bl" rotWithShape="0" blurRad="76200" dist="25400" dir="5400000">
              <a:srgbClr val="1B2A38">
                <a:alpha val="15000"/>
              </a:srgbClr>
            </a:outerShdw>
          </a:effectLst>
        </p:spPr>
      </p:sp>
      <p:sp>
        <p:nvSpPr>
          <p:cNvPr id="10" name="Text 8"/>
          <p:cNvSpPr/>
          <p:nvPr/>
        </p:nvSpPr>
        <p:spPr>
          <a:xfrm>
            <a:off x="3611880" y="2194560"/>
            <a:ext cx="1097280" cy="731520"/>
          </a:xfrm>
          <a:prstGeom prst="rect">
            <a:avLst/>
          </a:prstGeom>
          <a:noFill/>
          <a:ln/>
        </p:spPr>
        <p:txBody>
          <a:bodyPr wrap="square" rtlCol="0" anchor="ctr"/>
          <a:lstStyle/>
          <a:p>
            <a:pPr indent="0" marL="0">
              <a:buNone/>
            </a:pPr>
            <a:r>
              <a:rPr lang="en-US" sz="3400" b="1" dirty="0">
                <a:solidFill>
                  <a:srgbClr val="E8985E"/>
                </a:solidFill>
                <a:latin typeface="Cambria" pitchFamily="34" charset="0"/>
                <a:ea typeface="Cambria" pitchFamily="34" charset="-122"/>
                <a:cs typeface="Cambria" pitchFamily="34" charset="-120"/>
              </a:rPr>
              <a:t>2</a:t>
            </a:r>
            <a:endParaRPr lang="en-US" sz="3400" dirty="0"/>
          </a:p>
        </p:txBody>
      </p:sp>
      <p:sp>
        <p:nvSpPr>
          <p:cNvPr id="11" name="Text 9"/>
          <p:cNvSpPr/>
          <p:nvPr/>
        </p:nvSpPr>
        <p:spPr>
          <a:xfrm>
            <a:off x="3611880" y="2926080"/>
            <a:ext cx="2240280"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Transceiver</a:t>
            </a:r>
            <a:endParaRPr lang="en-US" sz="1400" dirty="0"/>
          </a:p>
        </p:txBody>
      </p:sp>
      <p:sp>
        <p:nvSpPr>
          <p:cNvPr id="12" name="Text 10"/>
          <p:cNvSpPr/>
          <p:nvPr/>
        </p:nvSpPr>
        <p:spPr>
          <a:xfrm>
            <a:off x="3611880" y="3566160"/>
            <a:ext cx="2240280" cy="2286000"/>
          </a:xfrm>
          <a:prstGeom prst="rect">
            <a:avLst/>
          </a:prstGeom>
          <a:noFill/>
          <a:ln/>
        </p:spPr>
        <p:txBody>
          <a:bodyPr wrap="square" rtlCol="0" anchor="ctr"/>
          <a:lstStyle/>
          <a:p>
            <a:pPr indent="0" marL="0">
              <a:lnSpc>
                <a:spcPct val="125000"/>
              </a:lnSpc>
              <a:buNone/>
            </a:pPr>
            <a:r>
              <a:rPr lang="en-US" sz="1100" dirty="0">
                <a:solidFill>
                  <a:srgbClr val="CFE6EF"/>
                </a:solidFill>
                <a:latin typeface="Calibri" pitchFamily="34" charset="0"/>
                <a:ea typeface="Calibri" pitchFamily="34" charset="-122"/>
                <a:cs typeface="Calibri" pitchFamily="34" charset="-120"/>
              </a:rPr>
              <a:t>Generates the transmit pulse and digitizes the returning echo. Works with legacy General Purpose Transceivers (GPT) or new Wide Band Transceivers (WBT).</a:t>
            </a:r>
            <a:endParaRPr lang="en-US" sz="1100" dirty="0"/>
          </a:p>
        </p:txBody>
      </p:sp>
      <p:sp>
        <p:nvSpPr>
          <p:cNvPr id="13" name="Shape 11"/>
          <p:cNvSpPr/>
          <p:nvPr/>
        </p:nvSpPr>
        <p:spPr>
          <a:xfrm>
            <a:off x="6131052" y="3977640"/>
            <a:ext cx="0" cy="0"/>
          </a:xfrm>
          <a:prstGeom prst="line">
            <a:avLst/>
          </a:prstGeom>
          <a:noFill/>
          <a:ln w="12700">
            <a:solidFill>
              <a:srgbClr val="5C7A90"/>
            </a:solidFill>
            <a:prstDash val="solid"/>
          </a:ln>
        </p:spPr>
      </p:sp>
      <p:sp>
        <p:nvSpPr>
          <p:cNvPr id="14" name="Shape 12"/>
          <p:cNvSpPr/>
          <p:nvPr/>
        </p:nvSpPr>
        <p:spPr>
          <a:xfrm>
            <a:off x="6217920" y="2011680"/>
            <a:ext cx="2697480" cy="4023360"/>
          </a:xfrm>
          <a:prstGeom prst="roundRect">
            <a:avLst>
              <a:gd name="adj" fmla="val 3390"/>
            </a:avLst>
          </a:prstGeom>
          <a:solidFill>
            <a:srgbClr val="21295C"/>
          </a:solidFill>
          <a:ln/>
          <a:effectLst>
            <a:outerShdw sx="100000" sy="100000" kx="0" ky="0" algn="bl" rotWithShape="0" blurRad="76200" dist="25400" dir="5400000">
              <a:srgbClr val="1B2A38">
                <a:alpha val="15000"/>
              </a:srgbClr>
            </a:outerShdw>
          </a:effectLst>
        </p:spPr>
      </p:sp>
      <p:sp>
        <p:nvSpPr>
          <p:cNvPr id="15" name="Text 13"/>
          <p:cNvSpPr/>
          <p:nvPr/>
        </p:nvSpPr>
        <p:spPr>
          <a:xfrm>
            <a:off x="6446520" y="2194560"/>
            <a:ext cx="1097280" cy="731520"/>
          </a:xfrm>
          <a:prstGeom prst="rect">
            <a:avLst/>
          </a:prstGeom>
          <a:noFill/>
          <a:ln/>
        </p:spPr>
        <p:txBody>
          <a:bodyPr wrap="square" rtlCol="0" anchor="ctr"/>
          <a:lstStyle/>
          <a:p>
            <a:pPr indent="0" marL="0">
              <a:buNone/>
            </a:pPr>
            <a:r>
              <a:rPr lang="en-US" sz="3400" b="1" dirty="0">
                <a:solidFill>
                  <a:srgbClr val="E8985E"/>
                </a:solidFill>
                <a:latin typeface="Cambria" pitchFamily="34" charset="0"/>
                <a:ea typeface="Cambria" pitchFamily="34" charset="-122"/>
                <a:cs typeface="Cambria" pitchFamily="34" charset="-120"/>
              </a:rPr>
              <a:t>3</a:t>
            </a:r>
            <a:endParaRPr lang="en-US" sz="3400" dirty="0"/>
          </a:p>
        </p:txBody>
      </p:sp>
      <p:sp>
        <p:nvSpPr>
          <p:cNvPr id="16" name="Text 14"/>
          <p:cNvSpPr/>
          <p:nvPr/>
        </p:nvSpPr>
        <p:spPr>
          <a:xfrm>
            <a:off x="6446520" y="2926080"/>
            <a:ext cx="2240280"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Operator Software</a:t>
            </a:r>
            <a:endParaRPr lang="en-US" sz="1400" dirty="0"/>
          </a:p>
        </p:txBody>
      </p:sp>
      <p:sp>
        <p:nvSpPr>
          <p:cNvPr id="17" name="Text 15"/>
          <p:cNvSpPr/>
          <p:nvPr/>
        </p:nvSpPr>
        <p:spPr>
          <a:xfrm>
            <a:off x="6446520" y="3566160"/>
            <a:ext cx="2240280" cy="2286000"/>
          </a:xfrm>
          <a:prstGeom prst="rect">
            <a:avLst/>
          </a:prstGeom>
          <a:noFill/>
          <a:ln/>
        </p:spPr>
        <p:txBody>
          <a:bodyPr wrap="square" rtlCol="0" anchor="ctr"/>
          <a:lstStyle/>
          <a:p>
            <a:pPr indent="0" marL="0">
              <a:lnSpc>
                <a:spcPct val="125000"/>
              </a:lnSpc>
              <a:buNone/>
            </a:pPr>
            <a:r>
              <a:rPr lang="en-US" sz="1100" dirty="0">
                <a:solidFill>
                  <a:srgbClr val="CFE6EF"/>
                </a:solidFill>
                <a:latin typeface="Calibri" pitchFamily="34" charset="0"/>
                <a:ea typeface="Calibri" pitchFamily="34" charset="-122"/>
                <a:cs typeface="Calibri" pitchFamily="34" charset="-120"/>
              </a:rPr>
              <a:t>One station controls every transceiver/transducer pair, applies calibration, and displays echograms, TS and Sv in real time.</a:t>
            </a:r>
            <a:endParaRPr lang="en-US" sz="1100" dirty="0"/>
          </a:p>
        </p:txBody>
      </p:sp>
      <p:sp>
        <p:nvSpPr>
          <p:cNvPr id="18" name="Shape 16"/>
          <p:cNvSpPr/>
          <p:nvPr/>
        </p:nvSpPr>
        <p:spPr>
          <a:xfrm>
            <a:off x="8965692" y="3977640"/>
            <a:ext cx="0" cy="0"/>
          </a:xfrm>
          <a:prstGeom prst="line">
            <a:avLst/>
          </a:prstGeom>
          <a:noFill/>
          <a:ln w="12700">
            <a:solidFill>
              <a:srgbClr val="5C7A90"/>
            </a:solidFill>
            <a:prstDash val="solid"/>
          </a:ln>
        </p:spPr>
      </p:sp>
      <p:sp>
        <p:nvSpPr>
          <p:cNvPr id="19" name="Shape 17"/>
          <p:cNvSpPr/>
          <p:nvPr/>
        </p:nvSpPr>
        <p:spPr>
          <a:xfrm>
            <a:off x="9052560" y="2011680"/>
            <a:ext cx="2697480" cy="4023360"/>
          </a:xfrm>
          <a:prstGeom prst="roundRect">
            <a:avLst>
              <a:gd name="adj" fmla="val 3390"/>
            </a:avLst>
          </a:prstGeom>
          <a:solidFill>
            <a:srgbClr val="065A82"/>
          </a:solidFill>
          <a:ln/>
          <a:effectLst>
            <a:outerShdw sx="100000" sy="100000" kx="0" ky="0" algn="bl" rotWithShape="0" blurRad="76200" dist="25400" dir="5400000">
              <a:srgbClr val="1B2A38">
                <a:alpha val="15000"/>
              </a:srgbClr>
            </a:outerShdw>
          </a:effectLst>
        </p:spPr>
      </p:sp>
      <p:sp>
        <p:nvSpPr>
          <p:cNvPr id="20" name="Text 18"/>
          <p:cNvSpPr/>
          <p:nvPr/>
        </p:nvSpPr>
        <p:spPr>
          <a:xfrm>
            <a:off x="9281160" y="2194560"/>
            <a:ext cx="1097280" cy="731520"/>
          </a:xfrm>
          <a:prstGeom prst="rect">
            <a:avLst/>
          </a:prstGeom>
          <a:noFill/>
          <a:ln/>
        </p:spPr>
        <p:txBody>
          <a:bodyPr wrap="square" rtlCol="0" anchor="ctr"/>
          <a:lstStyle/>
          <a:p>
            <a:pPr indent="0" marL="0">
              <a:buNone/>
            </a:pPr>
            <a:r>
              <a:rPr lang="en-US" sz="3400" b="1" dirty="0">
                <a:solidFill>
                  <a:srgbClr val="E8985E"/>
                </a:solidFill>
                <a:latin typeface="Cambria" pitchFamily="34" charset="0"/>
                <a:ea typeface="Cambria" pitchFamily="34" charset="-122"/>
                <a:cs typeface="Cambria" pitchFamily="34" charset="-120"/>
              </a:rPr>
              <a:t>4</a:t>
            </a:r>
            <a:endParaRPr lang="en-US" sz="3400" dirty="0"/>
          </a:p>
        </p:txBody>
      </p:sp>
      <p:sp>
        <p:nvSpPr>
          <p:cNvPr id="21" name="Text 19"/>
          <p:cNvSpPr/>
          <p:nvPr/>
        </p:nvSpPr>
        <p:spPr>
          <a:xfrm>
            <a:off x="9281160" y="2926080"/>
            <a:ext cx="2240280"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Raw Data &amp; Post-Processing</a:t>
            </a:r>
            <a:endParaRPr lang="en-US" sz="1400" dirty="0"/>
          </a:p>
        </p:txBody>
      </p:sp>
      <p:sp>
        <p:nvSpPr>
          <p:cNvPr id="22" name="Text 20"/>
          <p:cNvSpPr/>
          <p:nvPr/>
        </p:nvSpPr>
        <p:spPr>
          <a:xfrm>
            <a:off x="9281160" y="3566160"/>
            <a:ext cx="2240280" cy="2286000"/>
          </a:xfrm>
          <a:prstGeom prst="rect">
            <a:avLst/>
          </a:prstGeom>
          <a:noFill/>
          <a:ln/>
        </p:spPr>
        <p:txBody>
          <a:bodyPr wrap="square" rtlCol="0" anchor="ctr"/>
          <a:lstStyle/>
          <a:p>
            <a:pPr indent="0" marL="0">
              <a:lnSpc>
                <a:spcPct val="125000"/>
              </a:lnSpc>
              <a:buNone/>
            </a:pPr>
            <a:r>
              <a:rPr lang="en-US" sz="1100" dirty="0">
                <a:solidFill>
                  <a:srgbClr val="CFE6EF"/>
                </a:solidFill>
                <a:latin typeface="Calibri" pitchFamily="34" charset="0"/>
                <a:ea typeface="Calibri" pitchFamily="34" charset="-122"/>
                <a:cs typeface="Calibri" pitchFamily="34" charset="-120"/>
              </a:rPr>
              <a:t>Full time-series raw data is stored for replay, and is compatible with third-party post-processing tools for survey analysis and reporting.</a:t>
            </a:r>
            <a:endParaRPr lang="en-US" sz="1100" dirty="0"/>
          </a:p>
        </p:txBody>
      </p:sp>
      <p:sp>
        <p:nvSpPr>
          <p:cNvPr id="23" name="Text 21"/>
          <p:cNvSpPr/>
          <p:nvPr/>
        </p:nvSpPr>
        <p:spPr>
          <a:xfrm>
            <a:off x="3259836" y="3703320"/>
            <a:ext cx="274320" cy="457200"/>
          </a:xfrm>
          <a:prstGeom prst="rect">
            <a:avLst/>
          </a:prstGeom>
          <a:noFill/>
          <a:ln/>
        </p:spPr>
        <p:txBody>
          <a:bodyPr wrap="square" rtlCol="0" anchor="ctr"/>
          <a:lstStyle/>
          <a:p>
            <a:pPr algn="ctr" indent="0" marL="0">
              <a:buNone/>
            </a:pPr>
            <a:r>
              <a:rPr lang="en-US" sz="2000" b="1" dirty="0">
                <a:solidFill>
                  <a:srgbClr val="E8985E"/>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6094476" y="3703320"/>
            <a:ext cx="274320" cy="457200"/>
          </a:xfrm>
          <a:prstGeom prst="rect">
            <a:avLst/>
          </a:prstGeom>
          <a:noFill/>
          <a:ln/>
        </p:spPr>
        <p:txBody>
          <a:bodyPr wrap="square" rtlCol="0" anchor="ctr"/>
          <a:lstStyle/>
          <a:p>
            <a:pPr algn="ctr" indent="0" marL="0">
              <a:buNone/>
            </a:pPr>
            <a:r>
              <a:rPr lang="en-US" sz="2000" b="1" dirty="0">
                <a:solidFill>
                  <a:srgbClr val="E8985E"/>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8929116" y="3703320"/>
            <a:ext cx="274320" cy="457200"/>
          </a:xfrm>
          <a:prstGeom prst="rect">
            <a:avLst/>
          </a:prstGeom>
          <a:noFill/>
          <a:ln/>
        </p:spPr>
        <p:txBody>
          <a:bodyPr wrap="square" rtlCol="0" anchor="ctr"/>
          <a:lstStyle/>
          <a:p>
            <a:pPr algn="ctr" indent="0" marL="0">
              <a:buNone/>
            </a:pPr>
            <a:r>
              <a:rPr lang="en-US" sz="2000" b="1" dirty="0">
                <a:solidFill>
                  <a:srgbClr val="E8985E"/>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APPLICATIONS</a:t>
            </a:r>
            <a:endParaRPr lang="en-US" sz="1250" dirty="0"/>
          </a:p>
        </p:txBody>
      </p:sp>
      <p:sp>
        <p:nvSpPr>
          <p:cNvPr id="3" name="Text 1"/>
          <p:cNvSpPr/>
          <p:nvPr/>
        </p:nvSpPr>
        <p:spPr>
          <a:xfrm>
            <a:off x="548640" y="658368"/>
            <a:ext cx="9601200" cy="8229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One acoustic platform, many ocean questions</a:t>
            </a:r>
            <a:endParaRPr lang="en-US" sz="3200" dirty="0"/>
          </a:p>
        </p:txBody>
      </p:sp>
      <p:sp>
        <p:nvSpPr>
          <p:cNvPr id="4" name="Shape 2"/>
          <p:cNvSpPr/>
          <p:nvPr/>
        </p:nvSpPr>
        <p:spPr>
          <a:xfrm>
            <a:off x="548640" y="1783080"/>
            <a:ext cx="5394960" cy="1965960"/>
          </a:xfrm>
          <a:prstGeom prst="roundRect">
            <a:avLst>
              <a:gd name="adj" fmla="val 4651"/>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5" name="Shape 3"/>
          <p:cNvSpPr/>
          <p:nvPr/>
        </p:nvSpPr>
        <p:spPr>
          <a:xfrm>
            <a:off x="822960" y="2039112"/>
            <a:ext cx="566928" cy="566928"/>
          </a:xfrm>
          <a:prstGeom prst="ellipse">
            <a:avLst/>
          </a:prstGeom>
          <a:solidFill>
            <a:srgbClr val="1C7293"/>
          </a:solidFill>
          <a:ln/>
        </p:spPr>
      </p:sp>
      <p:sp>
        <p:nvSpPr>
          <p:cNvPr id="6" name="Text 4"/>
          <p:cNvSpPr/>
          <p:nvPr/>
        </p:nvSpPr>
        <p:spPr>
          <a:xfrm>
            <a:off x="822960" y="20208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00200" y="2039112"/>
            <a:ext cx="4114800"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Fish Stock Assessment</a:t>
            </a:r>
            <a:endParaRPr lang="en-US" sz="1550" dirty="0"/>
          </a:p>
        </p:txBody>
      </p:sp>
      <p:sp>
        <p:nvSpPr>
          <p:cNvPr id="8" name="Text 6"/>
          <p:cNvSpPr/>
          <p:nvPr/>
        </p:nvSpPr>
        <p:spPr>
          <a:xfrm>
            <a:off x="822960" y="2697480"/>
            <a:ext cx="4846320" cy="960120"/>
          </a:xfrm>
          <a:prstGeom prst="rect">
            <a:avLst/>
          </a:prstGeom>
          <a:noFill/>
          <a:ln/>
        </p:spPr>
        <p:txBody>
          <a:bodyPr wrap="square" rtlCol="0" anchor="ctr"/>
          <a:lstStyle/>
          <a:p>
            <a:pPr indent="0" marL="0">
              <a:lnSpc>
                <a:spcPct val="122000"/>
              </a:lnSpc>
              <a:buNone/>
            </a:pPr>
            <a:r>
              <a:rPr lang="en-US" sz="1150" dirty="0">
                <a:solidFill>
                  <a:srgbClr val="17232E"/>
                </a:solidFill>
                <a:latin typeface="Calibri" pitchFamily="34" charset="0"/>
                <a:ea typeface="Calibri" pitchFamily="34" charset="-122"/>
                <a:cs typeface="Calibri" pitchFamily="34" charset="-120"/>
              </a:rPr>
              <a:t>The original and primary use: quantitative biomass and abundance estimates that underpin fisheries management worldwide.</a:t>
            </a:r>
            <a:endParaRPr lang="en-US" sz="1150" dirty="0"/>
          </a:p>
        </p:txBody>
      </p:sp>
      <p:sp>
        <p:nvSpPr>
          <p:cNvPr id="9" name="Shape 7"/>
          <p:cNvSpPr/>
          <p:nvPr/>
        </p:nvSpPr>
        <p:spPr>
          <a:xfrm>
            <a:off x="6263640" y="1783080"/>
            <a:ext cx="5394960" cy="1965960"/>
          </a:xfrm>
          <a:prstGeom prst="roundRect">
            <a:avLst>
              <a:gd name="adj" fmla="val 4651"/>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0" name="Shape 8"/>
          <p:cNvSpPr/>
          <p:nvPr/>
        </p:nvSpPr>
        <p:spPr>
          <a:xfrm>
            <a:off x="6537960" y="2039112"/>
            <a:ext cx="566928" cy="566928"/>
          </a:xfrm>
          <a:prstGeom prst="ellipse">
            <a:avLst/>
          </a:prstGeom>
          <a:solidFill>
            <a:srgbClr val="1C7293"/>
          </a:solidFill>
          <a:ln/>
        </p:spPr>
      </p:sp>
      <p:sp>
        <p:nvSpPr>
          <p:cNvPr id="11" name="Text 9"/>
          <p:cNvSpPr/>
          <p:nvPr/>
        </p:nvSpPr>
        <p:spPr>
          <a:xfrm>
            <a:off x="6537960" y="20208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315200" y="2039112"/>
            <a:ext cx="4114800"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Ecosystem Monitoring</a:t>
            </a:r>
            <a:endParaRPr lang="en-US" sz="1550" dirty="0"/>
          </a:p>
        </p:txBody>
      </p:sp>
      <p:sp>
        <p:nvSpPr>
          <p:cNvPr id="13" name="Text 11"/>
          <p:cNvSpPr/>
          <p:nvPr/>
        </p:nvSpPr>
        <p:spPr>
          <a:xfrm>
            <a:off x="6537960" y="2697480"/>
            <a:ext cx="4846320" cy="960120"/>
          </a:xfrm>
          <a:prstGeom prst="rect">
            <a:avLst/>
          </a:prstGeom>
          <a:noFill/>
          <a:ln/>
        </p:spPr>
        <p:txBody>
          <a:bodyPr wrap="square" rtlCol="0" anchor="ctr"/>
          <a:lstStyle/>
          <a:p>
            <a:pPr indent="0" marL="0">
              <a:lnSpc>
                <a:spcPct val="122000"/>
              </a:lnSpc>
              <a:buNone/>
            </a:pPr>
            <a:r>
              <a:rPr lang="en-US" sz="1150" dirty="0">
                <a:solidFill>
                  <a:srgbClr val="17232E"/>
                </a:solidFill>
                <a:latin typeface="Calibri" pitchFamily="34" charset="0"/>
                <a:ea typeface="Calibri" pitchFamily="34" charset="-122"/>
                <a:cs typeface="Calibri" pitchFamily="34" charset="-120"/>
              </a:rPr>
              <a:t>Continuous frequency response across the water column supports broader biological and habitat monitoring beyond single-species surveys.</a:t>
            </a:r>
            <a:endParaRPr lang="en-US" sz="1150" dirty="0"/>
          </a:p>
        </p:txBody>
      </p:sp>
      <p:sp>
        <p:nvSpPr>
          <p:cNvPr id="14" name="Shape 12"/>
          <p:cNvSpPr/>
          <p:nvPr/>
        </p:nvSpPr>
        <p:spPr>
          <a:xfrm>
            <a:off x="548640" y="3931920"/>
            <a:ext cx="5394960" cy="1965960"/>
          </a:xfrm>
          <a:prstGeom prst="roundRect">
            <a:avLst>
              <a:gd name="adj" fmla="val 4651"/>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15" name="Shape 13"/>
          <p:cNvSpPr/>
          <p:nvPr/>
        </p:nvSpPr>
        <p:spPr>
          <a:xfrm>
            <a:off x="822960" y="4187952"/>
            <a:ext cx="566928" cy="566928"/>
          </a:xfrm>
          <a:prstGeom prst="ellipse">
            <a:avLst/>
          </a:prstGeom>
          <a:solidFill>
            <a:srgbClr val="1C7293"/>
          </a:solidFill>
          <a:ln/>
        </p:spPr>
      </p:sp>
      <p:sp>
        <p:nvSpPr>
          <p:cNvPr id="16" name="Text 14"/>
          <p:cNvSpPr/>
          <p:nvPr/>
        </p:nvSpPr>
        <p:spPr>
          <a:xfrm>
            <a:off x="822960" y="416966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600200" y="4187952"/>
            <a:ext cx="4114800"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Physical Oceanography</a:t>
            </a:r>
            <a:endParaRPr lang="en-US" sz="1550" dirty="0"/>
          </a:p>
        </p:txBody>
      </p:sp>
      <p:sp>
        <p:nvSpPr>
          <p:cNvPr id="18" name="Text 16"/>
          <p:cNvSpPr/>
          <p:nvPr/>
        </p:nvSpPr>
        <p:spPr>
          <a:xfrm>
            <a:off x="822960" y="4846320"/>
            <a:ext cx="4846320" cy="960120"/>
          </a:xfrm>
          <a:prstGeom prst="rect">
            <a:avLst/>
          </a:prstGeom>
          <a:noFill/>
          <a:ln/>
        </p:spPr>
        <p:txBody>
          <a:bodyPr wrap="square" rtlCol="0" anchor="ctr"/>
          <a:lstStyle/>
          <a:p>
            <a:pPr indent="0" marL="0">
              <a:lnSpc>
                <a:spcPct val="122000"/>
              </a:lnSpc>
              <a:buNone/>
            </a:pPr>
            <a:r>
              <a:rPr lang="en-US" sz="1150" dirty="0">
                <a:solidFill>
                  <a:srgbClr val="17232E"/>
                </a:solidFill>
                <a:latin typeface="Calibri" pitchFamily="34" charset="0"/>
                <a:ea typeface="Calibri" pitchFamily="34" charset="-122"/>
                <a:cs typeface="Calibri" pitchFamily="34" charset="-120"/>
              </a:rPr>
              <a:t>Wideband, low-frequency capability extends EK80 use into physical and chemical oceanography — e.g. tracking gas seep plumes rising from the seafloor.</a:t>
            </a:r>
            <a:endParaRPr lang="en-US" sz="1150" dirty="0"/>
          </a:p>
        </p:txBody>
      </p:sp>
      <p:sp>
        <p:nvSpPr>
          <p:cNvPr id="19" name="Shape 17"/>
          <p:cNvSpPr/>
          <p:nvPr/>
        </p:nvSpPr>
        <p:spPr>
          <a:xfrm>
            <a:off x="6263640" y="3931920"/>
            <a:ext cx="5394960" cy="1965960"/>
          </a:xfrm>
          <a:prstGeom prst="roundRect">
            <a:avLst>
              <a:gd name="adj" fmla="val 4651"/>
            </a:avLst>
          </a:prstGeom>
          <a:solidFill>
            <a:srgbClr val="FFFFFF"/>
          </a:solidFill>
          <a:ln w="12700">
            <a:solidFill>
              <a:srgbClr val="CFE6EF"/>
            </a:solidFill>
            <a:prstDash val="solid"/>
          </a:ln>
          <a:effectLst>
            <a:outerShdw sx="100000" sy="100000" kx="0" ky="0" algn="bl" rotWithShape="0" blurRad="101600" dist="25400" dir="5400000">
              <a:srgbClr val="1B2A38">
                <a:alpha val="12000"/>
              </a:srgbClr>
            </a:outerShdw>
          </a:effectLst>
        </p:spPr>
      </p:sp>
      <p:sp>
        <p:nvSpPr>
          <p:cNvPr id="20" name="Shape 18"/>
          <p:cNvSpPr/>
          <p:nvPr/>
        </p:nvSpPr>
        <p:spPr>
          <a:xfrm>
            <a:off x="6537960" y="4187952"/>
            <a:ext cx="566928" cy="566928"/>
          </a:xfrm>
          <a:prstGeom prst="ellipse">
            <a:avLst/>
          </a:prstGeom>
          <a:solidFill>
            <a:srgbClr val="1C7293"/>
          </a:solidFill>
          <a:ln/>
        </p:spPr>
      </p:sp>
      <p:sp>
        <p:nvSpPr>
          <p:cNvPr id="21" name="Text 19"/>
          <p:cNvSpPr/>
          <p:nvPr/>
        </p:nvSpPr>
        <p:spPr>
          <a:xfrm>
            <a:off x="6537960" y="416966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315200" y="4187952"/>
            <a:ext cx="4114800"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Seabed &amp; Habitat Mapping</a:t>
            </a:r>
            <a:endParaRPr lang="en-US" sz="1550" dirty="0"/>
          </a:p>
        </p:txBody>
      </p:sp>
      <p:sp>
        <p:nvSpPr>
          <p:cNvPr id="23" name="Text 21"/>
          <p:cNvSpPr/>
          <p:nvPr/>
        </p:nvSpPr>
        <p:spPr>
          <a:xfrm>
            <a:off x="6537960" y="4846320"/>
            <a:ext cx="4846320" cy="960120"/>
          </a:xfrm>
          <a:prstGeom prst="rect">
            <a:avLst/>
          </a:prstGeom>
          <a:noFill/>
          <a:ln/>
        </p:spPr>
        <p:txBody>
          <a:bodyPr wrap="square" rtlCol="0" anchor="ctr"/>
          <a:lstStyle/>
          <a:p>
            <a:pPr indent="0" marL="0">
              <a:lnSpc>
                <a:spcPct val="122000"/>
              </a:lnSpc>
              <a:buNone/>
            </a:pPr>
            <a:r>
              <a:rPr lang="en-US" sz="1150" dirty="0">
                <a:solidFill>
                  <a:srgbClr val="17232E"/>
                </a:solidFill>
                <a:latin typeface="Calibri" pitchFamily="34" charset="0"/>
                <a:ea typeface="Calibri" pitchFamily="34" charset="-122"/>
                <a:cs typeface="Calibri" pitchFamily="34" charset="-120"/>
              </a:rPr>
              <a:t>Split-beam geometry and calibrated backscatter support bottom characterization alongside water-column work.</a:t>
            </a:r>
            <a:endParaRPr lang="en-US" sz="1150" dirty="0"/>
          </a:p>
        </p:txBody>
      </p:sp>
      <p:sp>
        <p:nvSpPr>
          <p:cNvPr id="24" name="Text 22"/>
          <p:cNvSpPr/>
          <p:nvPr/>
        </p:nvSpPr>
        <p:spPr>
          <a:xfrm>
            <a:off x="11368735" y="6400800"/>
            <a:ext cx="548640" cy="292608"/>
          </a:xfrm>
          <a:prstGeom prst="rect">
            <a:avLst/>
          </a:prstGeom>
          <a:noFill/>
          <a:ln/>
        </p:spPr>
        <p:txBody>
          <a:bodyPr wrap="square" rtlCol="0" anchor="ctr"/>
          <a:lstStyle/>
          <a:p>
            <a:pPr algn="r" indent="0" marL="0">
              <a:buNone/>
            </a:pPr>
            <a:r>
              <a:rPr lang="en-US" sz="1000" dirty="0">
                <a:solidFill>
                  <a:srgbClr val="5C7A9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58368" y="566928"/>
            <a:ext cx="512064" cy="512064"/>
          </a:xfrm>
          <a:prstGeom prst="ellipse">
            <a:avLst/>
          </a:prstGeom>
          <a:ln w="15875">
            <a:solidFill>
              <a:srgbClr val="CFE6EF">
                <a:alpha val="16000"/>
              </a:srgbClr>
            </a:solidFill>
            <a:prstDash val="solid"/>
          </a:ln>
        </p:spPr>
      </p:sp>
      <p:sp>
        <p:nvSpPr>
          <p:cNvPr id="3" name="Shape 1"/>
          <p:cNvSpPr/>
          <p:nvPr/>
        </p:nvSpPr>
        <p:spPr>
          <a:xfrm>
            <a:off x="292608" y="201168"/>
            <a:ext cx="1243584" cy="1243584"/>
          </a:xfrm>
          <a:prstGeom prst="ellipse">
            <a:avLst/>
          </a:prstGeom>
          <a:ln w="15875">
            <a:solidFill>
              <a:srgbClr val="CFE6EF">
                <a:alpha val="14000"/>
              </a:srgbClr>
            </a:solidFill>
            <a:prstDash val="solid"/>
          </a:ln>
        </p:spPr>
      </p:sp>
      <p:sp>
        <p:nvSpPr>
          <p:cNvPr id="4" name="Shape 2"/>
          <p:cNvSpPr/>
          <p:nvPr/>
        </p:nvSpPr>
        <p:spPr>
          <a:xfrm>
            <a:off x="-73152" y="-164592"/>
            <a:ext cx="1975104" cy="1975104"/>
          </a:xfrm>
          <a:prstGeom prst="ellipse">
            <a:avLst/>
          </a:prstGeom>
          <a:ln w="15875">
            <a:solidFill>
              <a:srgbClr val="CFE6EF">
                <a:alpha val="12000"/>
              </a:srgbClr>
            </a:solidFill>
            <a:prstDash val="solid"/>
          </a:ln>
        </p:spPr>
      </p:sp>
      <p:sp>
        <p:nvSpPr>
          <p:cNvPr id="5" name="Shape 3"/>
          <p:cNvSpPr/>
          <p:nvPr/>
        </p:nvSpPr>
        <p:spPr>
          <a:xfrm>
            <a:off x="-438912" y="-530352"/>
            <a:ext cx="2706624" cy="2706624"/>
          </a:xfrm>
          <a:prstGeom prst="ellipse">
            <a:avLst/>
          </a:prstGeom>
          <a:ln w="15875">
            <a:solidFill>
              <a:srgbClr val="CFE6EF">
                <a:alpha val="10000"/>
              </a:srgbClr>
            </a:solidFill>
            <a:prstDash val="solid"/>
          </a:ln>
        </p:spPr>
      </p:sp>
      <p:sp>
        <p:nvSpPr>
          <p:cNvPr id="6" name="Shape 4"/>
          <p:cNvSpPr/>
          <p:nvPr/>
        </p:nvSpPr>
        <p:spPr>
          <a:xfrm>
            <a:off x="10991088" y="5687568"/>
            <a:ext cx="512064" cy="512064"/>
          </a:xfrm>
          <a:prstGeom prst="ellipse">
            <a:avLst/>
          </a:prstGeom>
          <a:ln w="15875">
            <a:solidFill>
              <a:srgbClr val="1C7293">
                <a:alpha val="18000"/>
              </a:srgbClr>
            </a:solidFill>
            <a:prstDash val="solid"/>
          </a:ln>
        </p:spPr>
      </p:sp>
      <p:sp>
        <p:nvSpPr>
          <p:cNvPr id="7" name="Shape 5"/>
          <p:cNvSpPr/>
          <p:nvPr/>
        </p:nvSpPr>
        <p:spPr>
          <a:xfrm>
            <a:off x="10625328" y="5321808"/>
            <a:ext cx="1243584" cy="1243584"/>
          </a:xfrm>
          <a:prstGeom prst="ellipse">
            <a:avLst/>
          </a:prstGeom>
          <a:ln w="15875">
            <a:solidFill>
              <a:srgbClr val="1C7293">
                <a:alpha val="16000"/>
              </a:srgbClr>
            </a:solidFill>
            <a:prstDash val="solid"/>
          </a:ln>
        </p:spPr>
      </p:sp>
      <p:sp>
        <p:nvSpPr>
          <p:cNvPr id="8" name="Shape 6"/>
          <p:cNvSpPr/>
          <p:nvPr/>
        </p:nvSpPr>
        <p:spPr>
          <a:xfrm>
            <a:off x="10259568" y="4956048"/>
            <a:ext cx="1975104" cy="1975104"/>
          </a:xfrm>
          <a:prstGeom prst="ellipse">
            <a:avLst/>
          </a:prstGeom>
          <a:ln w="15875">
            <a:solidFill>
              <a:srgbClr val="1C7293">
                <a:alpha val="14000"/>
              </a:srgbClr>
            </a:solidFill>
            <a:prstDash val="solid"/>
          </a:ln>
        </p:spPr>
      </p:sp>
      <p:sp>
        <p:nvSpPr>
          <p:cNvPr id="9" name="Shape 7"/>
          <p:cNvSpPr/>
          <p:nvPr/>
        </p:nvSpPr>
        <p:spPr>
          <a:xfrm>
            <a:off x="9893808" y="4590288"/>
            <a:ext cx="2706624" cy="2706624"/>
          </a:xfrm>
          <a:prstGeom prst="ellipse">
            <a:avLst/>
          </a:prstGeom>
          <a:ln w="15875">
            <a:solidFill>
              <a:srgbClr val="1C7293">
                <a:alpha val="12000"/>
              </a:srgbClr>
            </a:solidFill>
            <a:prstDash val="solid"/>
          </a:ln>
        </p:spPr>
      </p:sp>
      <p:sp>
        <p:nvSpPr>
          <p:cNvPr id="10" name="Text 8"/>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E8985E"/>
                </a:solidFill>
                <a:latin typeface="Calibri" pitchFamily="34" charset="0"/>
                <a:ea typeface="Calibri" pitchFamily="34" charset="-122"/>
                <a:cs typeface="Calibri" pitchFamily="34" charset="-120"/>
              </a:rPr>
              <a:t>SUMMARY</a:t>
            </a:r>
            <a:endParaRPr lang="en-US" sz="1250" dirty="0"/>
          </a:p>
        </p:txBody>
      </p:sp>
      <p:sp>
        <p:nvSpPr>
          <p:cNvPr id="11" name="Text 9"/>
          <p:cNvSpPr/>
          <p:nvPr/>
        </p:nvSpPr>
        <p:spPr>
          <a:xfrm>
            <a:off x="640080" y="1097280"/>
            <a:ext cx="10881360" cy="1005840"/>
          </a:xfrm>
          <a:prstGeom prst="rect">
            <a:avLst/>
          </a:prstGeom>
          <a:noFill/>
          <a:ln/>
        </p:spPr>
        <p:txBody>
          <a:bodyPr wrap="square"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Sound is the ocean's only long-range signal — and EK80 reads it precisely</a:t>
            </a:r>
            <a:endParaRPr lang="en-US" sz="3000" dirty="0"/>
          </a:p>
        </p:txBody>
      </p:sp>
      <p:sp>
        <p:nvSpPr>
          <p:cNvPr id="12" name="Shape 10"/>
          <p:cNvSpPr/>
          <p:nvPr/>
        </p:nvSpPr>
        <p:spPr>
          <a:xfrm>
            <a:off x="640080" y="2468880"/>
            <a:ext cx="384048" cy="384048"/>
          </a:xfrm>
          <a:prstGeom prst="ellipse">
            <a:avLst/>
          </a:prstGeom>
          <a:solidFill>
            <a:srgbClr val="E8985E"/>
          </a:solidFill>
          <a:ln/>
        </p:spPr>
      </p:sp>
      <p:sp>
        <p:nvSpPr>
          <p:cNvPr id="13" name="Text 11"/>
          <p:cNvSpPr/>
          <p:nvPr/>
        </p:nvSpPr>
        <p:spPr>
          <a:xfrm>
            <a:off x="640080" y="2450592"/>
            <a:ext cx="384048" cy="384048"/>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1234440" y="2414016"/>
            <a:ext cx="9966960" cy="777240"/>
          </a:xfrm>
          <a:prstGeom prst="rect">
            <a:avLst/>
          </a:prstGeom>
          <a:noFill/>
          <a:ln/>
        </p:spPr>
        <p:txBody>
          <a:bodyPr wrap="square" rtlCol="0" anchor="t"/>
          <a:lstStyle/>
          <a:p>
            <a:pPr indent="0" marL="0">
              <a:lnSpc>
                <a:spcPct val="128000"/>
              </a:lnSpc>
              <a:buNone/>
            </a:pPr>
            <a:r>
              <a:rPr lang="en-US" sz="1350" dirty="0">
                <a:solidFill>
                  <a:srgbClr val="CFE6EF"/>
                </a:solidFill>
                <a:latin typeface="Calibri" pitchFamily="34" charset="0"/>
                <a:ea typeface="Calibri" pitchFamily="34" charset="-122"/>
                <a:cs typeface="Calibri" pitchFamily="34" charset="-120"/>
              </a:rPr>
              <a:t>Sound speed (~1,500 m/s) varies with temperature, salinity and pressure, bending propagation paths through the water column.</a:t>
            </a:r>
            <a:endParaRPr lang="en-US" sz="1350" dirty="0"/>
          </a:p>
        </p:txBody>
      </p:sp>
      <p:sp>
        <p:nvSpPr>
          <p:cNvPr id="15" name="Shape 13"/>
          <p:cNvSpPr/>
          <p:nvPr/>
        </p:nvSpPr>
        <p:spPr>
          <a:xfrm>
            <a:off x="640080" y="3429000"/>
            <a:ext cx="384048" cy="384048"/>
          </a:xfrm>
          <a:prstGeom prst="ellipse">
            <a:avLst/>
          </a:prstGeom>
          <a:solidFill>
            <a:srgbClr val="E8985E"/>
          </a:solidFill>
          <a:ln/>
        </p:spPr>
      </p:sp>
      <p:sp>
        <p:nvSpPr>
          <p:cNvPr id="16" name="Text 14"/>
          <p:cNvSpPr/>
          <p:nvPr/>
        </p:nvSpPr>
        <p:spPr>
          <a:xfrm>
            <a:off x="640080" y="3410712"/>
            <a:ext cx="384048" cy="384048"/>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234440" y="3374136"/>
            <a:ext cx="9966960" cy="777240"/>
          </a:xfrm>
          <a:prstGeom prst="rect">
            <a:avLst/>
          </a:prstGeom>
          <a:noFill/>
          <a:ln/>
        </p:spPr>
        <p:txBody>
          <a:bodyPr wrap="square" rtlCol="0" anchor="t"/>
          <a:lstStyle/>
          <a:p>
            <a:pPr indent="0" marL="0">
              <a:lnSpc>
                <a:spcPct val="128000"/>
              </a:lnSpc>
              <a:buNone/>
            </a:pPr>
            <a:r>
              <a:rPr lang="en-US" sz="1350" dirty="0">
                <a:solidFill>
                  <a:srgbClr val="CFE6EF"/>
                </a:solidFill>
                <a:latin typeface="Calibri" pitchFamily="34" charset="0"/>
                <a:ea typeface="Calibri" pitchFamily="34" charset="-122"/>
                <a:cs typeface="Calibri" pitchFamily="34" charset="-120"/>
              </a:rPr>
              <a:t>Frequency governs the fundamental trade-off between range (low frequency) and resolution (high frequency).</a:t>
            </a:r>
            <a:endParaRPr lang="en-US" sz="1350" dirty="0"/>
          </a:p>
        </p:txBody>
      </p:sp>
      <p:sp>
        <p:nvSpPr>
          <p:cNvPr id="18" name="Shape 16"/>
          <p:cNvSpPr/>
          <p:nvPr/>
        </p:nvSpPr>
        <p:spPr>
          <a:xfrm>
            <a:off x="640080" y="4389120"/>
            <a:ext cx="384048" cy="384048"/>
          </a:xfrm>
          <a:prstGeom prst="ellipse">
            <a:avLst/>
          </a:prstGeom>
          <a:solidFill>
            <a:srgbClr val="E8985E"/>
          </a:solidFill>
          <a:ln/>
        </p:spPr>
      </p:sp>
      <p:sp>
        <p:nvSpPr>
          <p:cNvPr id="19" name="Text 17"/>
          <p:cNvSpPr/>
          <p:nvPr/>
        </p:nvSpPr>
        <p:spPr>
          <a:xfrm>
            <a:off x="640080" y="4370832"/>
            <a:ext cx="384048" cy="384048"/>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234440" y="4334256"/>
            <a:ext cx="9966960" cy="777240"/>
          </a:xfrm>
          <a:prstGeom prst="rect">
            <a:avLst/>
          </a:prstGeom>
          <a:noFill/>
          <a:ln/>
        </p:spPr>
        <p:txBody>
          <a:bodyPr wrap="square" rtlCol="0" anchor="t"/>
          <a:lstStyle/>
          <a:p>
            <a:pPr indent="0" marL="0">
              <a:lnSpc>
                <a:spcPct val="128000"/>
              </a:lnSpc>
              <a:buNone/>
            </a:pPr>
            <a:r>
              <a:rPr lang="en-US" sz="1350" dirty="0">
                <a:solidFill>
                  <a:srgbClr val="CFE6EF"/>
                </a:solidFill>
                <a:latin typeface="Calibri" pitchFamily="34" charset="0"/>
                <a:ea typeface="Calibri" pitchFamily="34" charset="-122"/>
                <a:cs typeface="Calibri" pitchFamily="34" charset="-120"/>
              </a:rPr>
              <a:t>Echosounders measure range from round-trip travel time, and echo strength (TS/Sv) from amplitude.</a:t>
            </a:r>
            <a:endParaRPr lang="en-US" sz="1350" dirty="0"/>
          </a:p>
        </p:txBody>
      </p:sp>
      <p:sp>
        <p:nvSpPr>
          <p:cNvPr id="21" name="Shape 19"/>
          <p:cNvSpPr/>
          <p:nvPr/>
        </p:nvSpPr>
        <p:spPr>
          <a:xfrm>
            <a:off x="640080" y="5349240"/>
            <a:ext cx="384048" cy="384048"/>
          </a:xfrm>
          <a:prstGeom prst="ellipse">
            <a:avLst/>
          </a:prstGeom>
          <a:solidFill>
            <a:srgbClr val="E8985E"/>
          </a:solidFill>
          <a:ln/>
        </p:spPr>
      </p:sp>
      <p:sp>
        <p:nvSpPr>
          <p:cNvPr id="22" name="Text 20"/>
          <p:cNvSpPr/>
          <p:nvPr/>
        </p:nvSpPr>
        <p:spPr>
          <a:xfrm>
            <a:off x="640080" y="5330952"/>
            <a:ext cx="384048" cy="384048"/>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234440" y="5294376"/>
            <a:ext cx="9966960" cy="777240"/>
          </a:xfrm>
          <a:prstGeom prst="rect">
            <a:avLst/>
          </a:prstGeom>
          <a:noFill/>
          <a:ln/>
        </p:spPr>
        <p:txBody>
          <a:bodyPr wrap="square" rtlCol="0" anchor="t"/>
          <a:lstStyle/>
          <a:p>
            <a:pPr indent="0" marL="0">
              <a:lnSpc>
                <a:spcPct val="128000"/>
              </a:lnSpc>
              <a:buNone/>
            </a:pPr>
            <a:r>
              <a:rPr lang="en-US" sz="1350" dirty="0">
                <a:solidFill>
                  <a:srgbClr val="CFE6EF"/>
                </a:solidFill>
                <a:latin typeface="Calibri" pitchFamily="34" charset="0"/>
                <a:ea typeface="Calibri" pitchFamily="34" charset="-122"/>
                <a:cs typeface="Calibri" pitchFamily="34" charset="-120"/>
              </a:rPr>
              <a:t>EK80 replaces fixed-frequency sensing with a wideband 10–500 kHz architecture, decoupling resolution from pulse length and improving target characterization across fisheries, ecosystem and oceanographic applications.</a:t>
            </a:r>
            <a:endParaRPr lang="en-US" sz="1350" dirty="0"/>
          </a:p>
        </p:txBody>
      </p:sp>
      <p:sp>
        <p:nvSpPr>
          <p:cNvPr id="24" name="Text 22"/>
          <p:cNvSpPr/>
          <p:nvPr/>
        </p:nvSpPr>
        <p:spPr>
          <a:xfrm>
            <a:off x="640080" y="6446520"/>
            <a:ext cx="9144000" cy="274320"/>
          </a:xfrm>
          <a:prstGeom prst="rect">
            <a:avLst/>
          </a:prstGeom>
          <a:noFill/>
          <a:ln/>
        </p:spPr>
        <p:txBody>
          <a:bodyPr wrap="square" rtlCol="0" anchor="ctr"/>
          <a:lstStyle/>
          <a:p>
            <a:pPr indent="0" marL="0">
              <a:buNone/>
            </a:pPr>
            <a:r>
              <a:rPr lang="en-US" sz="950" dirty="0">
                <a:solidFill>
                  <a:srgbClr val="5C7A90"/>
                </a:solidFill>
                <a:latin typeface="Calibri" pitchFamily="34" charset="0"/>
                <a:ea typeface="Calibri" pitchFamily="34" charset="-122"/>
                <a:cs typeface="Calibri" pitchFamily="34" charset="-120"/>
              </a:rPr>
              <a:t>Sources: Kongsberg / Kongsberg Discovery product documentation and press materials.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2026-09-22T09:40:17Z</dcterms:created>
  <dcterms:modified xsi:type="dcterms:W3CDTF">2026-09-22T09:40:17Z</dcterms:modified>
</cp:coreProperties>
</file>