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685800"/>
            <a:ext cx="640080" cy="640080"/>
          </a:xfrm>
          <a:prstGeom prst="ellipse">
            <a:avLst/>
          </a:prstGeom>
          <a:ln w="15875">
            <a:solidFill>
              <a:srgbClr val="CFE6E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228600"/>
            <a:ext cx="1554480" cy="1554480"/>
          </a:xfrm>
          <a:prstGeom prst="ellipse">
            <a:avLst/>
          </a:prstGeom>
          <a:ln w="15875">
            <a:solidFill>
              <a:srgbClr val="CFE6E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-228600"/>
            <a:ext cx="2468880" cy="2468880"/>
          </a:xfrm>
          <a:prstGeom prst="ellipse">
            <a:avLst/>
          </a:prstGeom>
          <a:ln w="15875">
            <a:solidFill>
              <a:srgbClr val="CFE6E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-685800"/>
            <a:ext cx="3383280" cy="3383280"/>
          </a:xfrm>
          <a:prstGeom prst="ellipse">
            <a:avLst/>
          </a:prstGeom>
          <a:ln w="15875">
            <a:solidFill>
              <a:srgbClr val="CFE6E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-1143000"/>
            <a:ext cx="4297680" cy="4297680"/>
          </a:xfrm>
          <a:prstGeom prst="ellipse">
            <a:avLst/>
          </a:prstGeom>
          <a:ln w="15875">
            <a:solidFill>
              <a:srgbClr val="CFE6E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760720"/>
            <a:ext cx="548640" cy="548640"/>
          </a:xfrm>
          <a:prstGeom prst="ellipse">
            <a:avLst/>
          </a:prstGeom>
          <a:ln w="15875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5349240"/>
            <a:ext cx="1371600" cy="1371600"/>
          </a:xfrm>
          <a:prstGeom prst="ellipse">
            <a:avLst/>
          </a:prstGeom>
          <a:ln w="15875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82880" y="4937760"/>
            <a:ext cx="2194560" cy="2194560"/>
          </a:xfrm>
          <a:prstGeom prst="ellipse">
            <a:avLst/>
          </a:prstGeom>
          <a:ln w="15875">
            <a:solidFill>
              <a:srgbClr val="1C7293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594360" y="4526280"/>
            <a:ext cx="3017520" cy="3017520"/>
          </a:xfrm>
          <a:prstGeom prst="ellipse">
            <a:avLst/>
          </a:prstGeom>
          <a:ln w="15875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KONGSBERG EK80  ·  WIDEBAND SCIENTIFIC ECHO SOUNDER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Calibrating the EK80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Setup, calibration, data collection and troubleshooting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2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46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193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4709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235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846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5193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709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2350"/>
          </a:solidFill>
          <a:ln w="12700">
            <a:solidFill>
              <a:srgbClr val="E898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846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8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5193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0" y="4709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2350"/>
          </a:solidFill>
          <a:ln w="12700">
            <a:solidFill>
              <a:srgbClr val="7A5C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4846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0" y="5193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EK80 has to be calibrated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EK80 measures echo strength electrically. Calibration is what ties that electrical reading to a physical, absolute unit — so a target strength or backscattering value means the same thing on every vessel, on every survey, at every frequency.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535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6118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402336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electrical gain into true target strength and volume backscattering — the basis for any quantitative estimate.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246120" y="26974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29535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02152" y="36118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02152" y="402336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biomass and abundance estimates be compared across vessels, years and survey programmes.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0" y="26974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29535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9632" y="36118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&amp; ageing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9632" y="402336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Transducers and electronics change over time. Recalibration catches gain drift before it biases a survey.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641080" y="26974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97112" y="29535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897112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97112" y="36118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897112" y="4023360"/>
            <a:ext cx="20939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documented, dated calibration file that becomes part of the survey's metadata record.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standard-sphere calibration method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sphere of precisely known target strength is lowered into the beam and moved through it. The EK80 compares its measured echo to the sphere's theoretical TS — any difference becomes a correction.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035040" cy="3794760"/>
          </a:xfrm>
          <a:prstGeom prst="roundRect">
            <a:avLst>
              <a:gd name="adj" fmla="val 1928"/>
            </a:avLst>
          </a:prstGeom>
          <a:solidFill>
            <a:srgbClr val="EAF3F7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26517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377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V="1">
            <a:off x="2194560" y="2907792"/>
            <a:ext cx="2743200" cy="2743200"/>
          </a:xfrm>
          <a:prstGeom prst="triangle">
            <a:avLst/>
          </a:prstGeom>
          <a:solidFill>
            <a:srgbClr val="1C7293">
              <a:alpha val="18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834640"/>
            <a:ext cx="0" cy="2331720"/>
          </a:xfrm>
          <a:prstGeom prst="line">
            <a:avLst/>
          </a:prstGeom>
          <a:noFill/>
          <a:ln w="12700">
            <a:solidFill>
              <a:srgbClr val="5C7A9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419856" y="5074920"/>
            <a:ext cx="292608" cy="292608"/>
          </a:xfrm>
          <a:prstGeom prst="ellipse">
            <a:avLst/>
          </a:prstGeom>
          <a:solidFill>
            <a:srgbClr val="E8985E"/>
          </a:solidFill>
          <a:ln w="19050">
            <a:solidFill>
              <a:srgbClr val="B37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sphere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5285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5029200"/>
            <a:ext cx="274320" cy="-19202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echo ↔ theoretical 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2377440"/>
            <a:ext cx="4754880" cy="3794760"/>
          </a:xfrm>
          <a:prstGeom prst="roundRect">
            <a:avLst>
              <a:gd name="adj" fmla="val 241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material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23760" y="289864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or tungsten carbide, chosen per frequency; each diameter is selected to minimise temperature dependence.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3813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movement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23760" y="410565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sphere is deliberately moved through the beam so the wizard can sample both the acoustic axis and off-axis positions.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5020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5312664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calibration file (gain, beam angles, offsets) that the EK80 applies to every subsequent measurement on that channel.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42062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11002975" y="4206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SETUP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site and casting the environment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quality depends heavily on conditions. A poor site or missing environmental data will show up later as noisy, low-confidence results — or force the whole protocol to be repeated.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8716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checklist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88950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Sheltered water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3154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or hold station somewhere protected from swell and wind chop.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" y="37307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69417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depth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25880" y="395935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around 50–70 m — enough room to suspend the sphere clear of the surface and seabed.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" y="45354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49884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conditions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47640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wind and low current keep the sphere still and on-axis in the beam.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22960" y="53400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53035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Daylight, if possible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25880" y="556869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chance of diel vertical migration bringing biological scatterers into the beam.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55080" y="228600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25603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60920" y="256032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a CTD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675120" y="33375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temperature/salinity/depth profile at the calibration site feeds directly into the EK80's environment settings.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4069080"/>
            <a:ext cx="461772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2062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SETS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speed (c)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61120" y="4526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every range calculation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coefficient (α)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0" y="50932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transmission-loss correction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75120" y="5660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961120" y="56601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TS is itself temperature-dependent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42062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11002975" y="4206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SETUP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Rigging the calibration sphere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monofilament lines, each on its own winch or rod, let the sphere be steered independently in two axes beneath the transducer — and held steady once it's found.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EAF3F7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51460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2907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hull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2880360"/>
            <a:ext cx="640080" cy="18288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3108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flipV="1">
            <a:off x="2788920" y="3063240"/>
            <a:ext cx="2194560" cy="2331720"/>
          </a:xfrm>
          <a:prstGeom prst="triangl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38528" y="262432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2697480"/>
            <a:ext cx="1874520" cy="242316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3048" y="262432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0" y="2697480"/>
            <a:ext cx="0" cy="242316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87568" y="262432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0" y="2697480"/>
            <a:ext cx="-1874520" cy="242316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winches / rods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4965192"/>
            <a:ext cx="310896" cy="310896"/>
          </a:xfrm>
          <a:prstGeom prst="ellipse">
            <a:avLst/>
          </a:prstGeom>
          <a:solidFill>
            <a:srgbClr val="E8985E"/>
          </a:solidFill>
          <a:ln w="19050">
            <a:solidFill>
              <a:srgbClr val="B37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49926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3063240"/>
            <a:ext cx="0" cy="205740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547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86200" y="5276088"/>
            <a:ext cx="0" cy="73152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6007608"/>
            <a:ext cx="182880" cy="25603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5989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stabilising weight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22860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9248" y="24871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699248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2414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each line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0" y="27249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a secure loop in each monofilament line to hold the sphere.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98080" y="36118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9248" y="38130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769924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37398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together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0" y="40507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out all three lines evenly so the sphere descends roughly on-axis.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98080" y="49377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138928"/>
            <a:ext cx="384048" cy="38404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39" name="Text 37"/>
          <p:cNvSpPr/>
          <p:nvPr/>
        </p:nvSpPr>
        <p:spPr>
          <a:xfrm>
            <a:off x="7699248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0" y="50657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lines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229600" y="5376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located, mark each line at its winch — it makes re-locating the sphere far faster next time.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42062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11002975" y="4206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SETUP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EK80 software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sphere ever goes in the water, the software has to be told what to do — and the channel being calibrated has to be isolated from every other transducer on the vessel.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1B2A3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transceivers, then the EK80 display and processing unit, and open the EK80 software.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3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channel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8404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channel being calibrated to Active; switch every other channel to Passive so it cannot interfere.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38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survey settings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8404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transmit power, pulse length and pulse type (CW or FM) to exactly what will be used during the real survey.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052560" y="23774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1A2350"/>
          </a:solidFill>
          <a:ln/>
          <a:effectLst>
            <a:outerShdw sx="100000" sy="100000" kx="0" ky="0" algn="bl" rotWithShape="0" blurRad="76200" dist="25400" dir="5400000">
              <a:srgbClr val="1B2A3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81160" y="3246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recording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81160" y="38404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raw-data output folder and file settings — always keep the raw data from a calibration.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25983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9447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29116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isolate the channel? A transducer left pinging nearby can put stray energy into the one being calibrated, corrupting the sphere echo.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98226" y="420624"/>
            <a:ext cx="1144829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498226" y="420624"/>
            <a:ext cx="11448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CALIBRATION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sphere in the beam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weak, off-centre echo almost always means the sphere is sitting in a side lobe, not the main lobe. Small, patient adjustments on each line bring it into the strongest part of the beam.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943600" cy="3840480"/>
          </a:xfrm>
          <a:prstGeom prst="roundRect">
            <a:avLst>
              <a:gd name="adj" fmla="val 1905"/>
            </a:avLst>
          </a:prstGeom>
          <a:solidFill>
            <a:srgbClr val="EAF3F7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6517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2286000" y="2907792"/>
            <a:ext cx="2468880" cy="2651760"/>
          </a:xfrm>
          <a:prstGeom prst="triangle">
            <a:avLst/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54480" y="3017520"/>
            <a:ext cx="685800" cy="2103120"/>
          </a:xfrm>
          <a:prstGeom prst="triangle">
            <a:avLst/>
          </a:prstGeom>
          <a:solidFill>
            <a:srgbClr val="E8985E">
              <a:alpha val="16000"/>
            </a:srgbClr>
          </a:solidFill>
          <a:ln w="12700">
            <a:solidFill>
              <a:srgbClr val="E898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800600" y="3017520"/>
            <a:ext cx="685800" cy="2103120"/>
          </a:xfrm>
          <a:prstGeom prst="triangle">
            <a:avLst/>
          </a:prstGeom>
          <a:solidFill>
            <a:srgbClr val="E8985E">
              <a:alpha val="16000"/>
            </a:srgbClr>
          </a:solidFill>
          <a:ln w="12700">
            <a:solidFill>
              <a:srgbClr val="E898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4297680"/>
            <a:ext cx="219456" cy="219456"/>
          </a:xfrm>
          <a:prstGeom prst="ellipse">
            <a:avLst/>
          </a:prstGeom>
          <a:solidFill>
            <a:srgbClr val="5C7A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5537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off-axis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383280" y="4800600"/>
            <a:ext cx="274320" cy="274320"/>
          </a:xfrm>
          <a:prstGeom prst="ellipse">
            <a:avLst/>
          </a:prstGeom>
          <a:solidFill>
            <a:srgbClr val="3C8C6E"/>
          </a:solidFill>
          <a:ln w="19050">
            <a:solidFill>
              <a:srgbClr val="2C6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51023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on-axis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display to Sv (20 log) to make the sphere easier to spot against the background.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37744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22008" y="257860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92200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2505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intensity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52360" y="28163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each line in and out a little; the echo should get stronger as the sphere nears the axis.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720840" y="370332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39044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92200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38313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some trial and error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52360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common to find the weight or sphere sitting in a side lobe at first — that's normal, not a fault.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720840" y="50292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22008" y="5230368"/>
            <a:ext cx="384048" cy="38404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9" name="Text 27"/>
          <p:cNvSpPr/>
          <p:nvPr/>
        </p:nvSpPr>
        <p:spPr>
          <a:xfrm>
            <a:off x="692200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52360" y="51572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patient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52360" y="54681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movements are more effective than large ones once the echo starts to strengthen.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98226" y="420624"/>
            <a:ext cx="1144829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498226" y="420624"/>
            <a:ext cx="11448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CALIBRATION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beam pattern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located, the sphere is guided through a grid of positions spanning the main lobe. The EK80 calibration wizard logs an echo at each position and fits them to the transducer's beam pattern.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7607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sampled by sphere position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3108960"/>
            <a:ext cx="2834640" cy="2834640"/>
          </a:xfrm>
          <a:prstGeom prst="ellipse">
            <a:avLst/>
          </a:prstGeom>
          <a:ln w="12700">
            <a:solidFill>
              <a:srgbClr val="CF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3566160"/>
            <a:ext cx="1920240" cy="1920240"/>
          </a:xfrm>
          <a:prstGeom prst="ellipse">
            <a:avLst/>
          </a:prstGeom>
          <a:ln w="12700">
            <a:solidFill>
              <a:srgbClr val="CF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023360"/>
            <a:ext cx="1005840" cy="1005840"/>
          </a:xfrm>
          <a:prstGeom prst="ellipse">
            <a:avLst/>
          </a:prstGeom>
          <a:ln w="12700">
            <a:solidFill>
              <a:srgbClr val="CF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4471416"/>
            <a:ext cx="109728" cy="109728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02736" y="4608576"/>
            <a:ext cx="109728" cy="109728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99816" y="4562856"/>
            <a:ext cx="109728" cy="109728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5576" y="4151376"/>
            <a:ext cx="109728" cy="109728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6" name="Shape 14"/>
          <p:cNvSpPr/>
          <p:nvPr/>
        </p:nvSpPr>
        <p:spPr>
          <a:xfrm>
            <a:off x="3877056" y="48371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871216" y="419709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739896" y="396849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054096" y="49743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242816" y="4654296"/>
            <a:ext cx="109728" cy="10972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4105656"/>
            <a:ext cx="109728" cy="10972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1296" y="5367528"/>
            <a:ext cx="109728" cy="10972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3" name="Shape 21"/>
          <p:cNvSpPr/>
          <p:nvPr/>
        </p:nvSpPr>
        <p:spPr>
          <a:xfrm>
            <a:off x="3191256" y="3557016"/>
            <a:ext cx="109728" cy="10972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4" name="Text 22"/>
          <p:cNvSpPr/>
          <p:nvPr/>
        </p:nvSpPr>
        <p:spPr>
          <a:xfrm>
            <a:off x="2880360" y="4206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on-axis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58338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dot: one sphere position sampled during the pass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237744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2606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BEAM MAP, THE WIZARD DERIVES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30632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0449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30" name="Text 28"/>
          <p:cNvSpPr/>
          <p:nvPr/>
        </p:nvSpPr>
        <p:spPr>
          <a:xfrm>
            <a:off x="7269480" y="29352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 gain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29352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on-axis sensitivity, in dB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37216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7033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34" name="Text 32"/>
          <p:cNvSpPr/>
          <p:nvPr/>
        </p:nvSpPr>
        <p:spPr>
          <a:xfrm>
            <a:off x="7269480" y="3593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angles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3593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athwartship / alongship opening angles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9440" y="43799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436168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38" name="Text 36"/>
          <p:cNvSpPr/>
          <p:nvPr/>
        </p:nvSpPr>
        <p:spPr>
          <a:xfrm>
            <a:off x="726948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axis offset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true axis sits from mechanical centre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49440" y="503834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502005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42" name="Text 40"/>
          <p:cNvSpPr/>
          <p:nvPr/>
        </p:nvSpPr>
        <p:spPr>
          <a:xfrm>
            <a:off x="7269480" y="4910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correction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0" y="4910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integration correction applied to Sv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49440" y="5440680"/>
            <a:ext cx="438912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5577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passes through the beam improve confidence in the fit.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98226" y="420624"/>
            <a:ext cx="1144829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498226" y="420624"/>
            <a:ext cx="11448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CALIBRATION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 — and knowing when to stop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wizard reports both the corrected parameters and a quality figure. A good calibration is one where that quality figure is tight, not just where the numbers look plausible.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871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8094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52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 gain (dB)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118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On-axis sensitivity — compare against the previous calibration for drift.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80390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correction (dB)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9410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correction folded into Sv/backscatter calculations.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62686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498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angles (dB)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7640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Athwartship and alongship two-way beam widths.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544982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321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/ std. deviation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5869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the fitted sphere positions around the model beam — the headline quality metric.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2860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2514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RULE OF THUMB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816352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8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std. dev.  ≤  0.4 dB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83680" y="35204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as the threshold for an acceptable sphere-TS standard deviation. Values above this — especially alongside odd beam angles or gain — point to a problem worth investigating before accepting the result.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4709160"/>
            <a:ext cx="470916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8463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 doubt, don't accept 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51206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calibration is worse than a late one — it can be easier and cheaper to repeat the protocol than to correct biased survey data afterward.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1727" y="42062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/>
        </p:spPr>
      </p:sp>
      <p:sp>
        <p:nvSpPr>
          <p:cNvPr id="3" name="Text 1"/>
          <p:cNvSpPr/>
          <p:nvPr/>
        </p:nvSpPr>
        <p:spPr>
          <a:xfrm>
            <a:off x="10161727" y="420624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COLLECTION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calibration file to survey data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calibration only pays off if the survey actually uses it — with the same acoustic settings it was performed under, and with the data properly logged for later analysis.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633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3218688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file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3749040"/>
            <a:ext cx="20939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calibration output into the survey configuration for each channel before the survey starts.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2633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2152" y="3218688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settings matched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02152" y="3749040"/>
            <a:ext cx="20939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power, pulse length and pulse type must stay the same as during calibration — changing them invalidates the gain values.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943600" y="23774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2633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9632" y="3218688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raw logging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99632" y="3749040"/>
            <a:ext cx="20939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.raw files continuously; raw data preserves everything needed to reprocess later if settings or software change.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641080" y="23774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97112" y="2633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89711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7112" y="3218688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file structure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97112" y="3749040"/>
            <a:ext cx="209397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6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file/folder naming and ping intervals make a survey's archive far easier to work with afterward.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1727" y="42062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/>
        </p:spPr>
      </p:sp>
      <p:sp>
        <p:nvSpPr>
          <p:cNvPr id="3" name="Text 1"/>
          <p:cNvSpPr/>
          <p:nvPr/>
        </p:nvSpPr>
        <p:spPr>
          <a:xfrm>
            <a:off x="10161727" y="420624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COLLECTION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an eye on data quality underway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establishes accuracy at one point in time. Ongoing checks confirm the system is still behaving the way it was calibrated to, for the length of the survey.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054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echograms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42316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regularly for unexpected noise bands, dropped pings, or a bottom line that looks wrong for the charted depth.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112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background noise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342900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noise floor can mask weak targets long before it becomes obvious — check it against the calibration-time baseline.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517136"/>
            <a:ext cx="512064" cy="512064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4434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references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443484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patch of seabed or a well-known target class can serve as a quick day-to-day sanity check between full calibrations.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522976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04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63040" y="5440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environment updates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544068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Re-cast sound speed and absorption periodically on longer surveys, especially when crossing water masses.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1727" y="42062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7A5C9E"/>
          </a:solidFill>
          <a:ln/>
        </p:spPr>
      </p:sp>
      <p:sp>
        <p:nvSpPr>
          <p:cNvPr id="3" name="Text 1"/>
          <p:cNvSpPr/>
          <p:nvPr/>
        </p:nvSpPr>
        <p:spPr>
          <a:xfrm>
            <a:off x="10161727" y="420624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TROUBLESHOOTING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calibration doesn't go to plan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29384"/>
            <a:ext cx="457200" cy="457200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19110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/ weak sphere echo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sphere is likely sitting in a side lobe rather than the main lobe, tangled, or on the wrong active channel.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822960" y="3136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that only the target channel is Active; gently work each line to find the strongest echo; verify the sphere hasn't snagged.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9293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19110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scatter / poor RMS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51460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state, current, or a swinging sphere are adding noise to the position fit — not a fault with the electronics.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446520" y="3136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calmer conditions; add or reposition the stabilising weight; take more passes through the beam before accepting.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21538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1970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parameters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angles, axis offset or gain far from the transducer's nominal values, sometimes paired with high RMS.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822960" y="5422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transducer face for fouling, marine growth or damage; check connectors and cabling before re-attempting.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72200" y="3977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2153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1970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Unexpected noise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46520" y="480060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acoustic systems (sonars, Doppler logs, other echosounders) or electrical interference corrupt the echo.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446520" y="5422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 or set other systems to Passive during calibration; check grounding and shielding on suspect cabling.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29977" y="420624"/>
            <a:ext cx="1313078" cy="292608"/>
          </a:xfrm>
          <a:prstGeom prst="roundRect">
            <a:avLst>
              <a:gd name="adj" fmla="val 50000"/>
            </a:avLst>
          </a:prstGeom>
          <a:solidFill>
            <a:srgbClr val="3C8C6E"/>
          </a:solidFill>
          <a:ln/>
        </p:spPr>
      </p:sp>
      <p:sp>
        <p:nvSpPr>
          <p:cNvPr id="3" name="Text 1"/>
          <p:cNvSpPr/>
          <p:nvPr/>
        </p:nvSpPr>
        <p:spPr>
          <a:xfrm>
            <a:off x="10329977" y="420624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call it done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01952"/>
            <a:ext cx="420624" cy="420624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before the survey — and again during or after long surveys to catch drift.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79192"/>
            <a:ext cx="420624" cy="420624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exact power, pulse length and pulse type the survey will run.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56432"/>
            <a:ext cx="420624" cy="420624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keep the raw calibration data, not just the summary output.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33672"/>
            <a:ext cx="420624" cy="420624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Re-cast sound speed and absorption if conditions have changed since setup.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010912"/>
            <a:ext cx="420624" cy="420624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92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RMS/std. deviation is within tolerance before accepting a channel.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788152"/>
            <a:ext cx="420624" cy="420624"/>
          </a:xfrm>
          <a:prstGeom prst="ellipse">
            <a:avLst/>
          </a:prstGeom>
          <a:solidFill>
            <a:srgbClr val="3C8C6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769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the calibration file alongside dated metadata for every channel.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12064" cy="512064"/>
          </a:xfrm>
          <a:prstGeom prst="ellipse">
            <a:avLst/>
          </a:prstGeom>
          <a:ln w="15875">
            <a:solidFill>
              <a:srgbClr val="CFE6E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01168"/>
            <a:ext cx="1243584" cy="1243584"/>
          </a:xfrm>
          <a:prstGeom prst="ellipse">
            <a:avLst/>
          </a:prstGeom>
          <a:ln w="15875">
            <a:solidFill>
              <a:srgbClr val="CFE6E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" y="-164592"/>
            <a:ext cx="1975104" cy="1975104"/>
          </a:xfrm>
          <a:prstGeom prst="ellipse">
            <a:avLst/>
          </a:prstGeom>
          <a:ln w="15875">
            <a:solidFill>
              <a:srgbClr val="CFE6E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38912" y="-530352"/>
            <a:ext cx="2706624" cy="2706624"/>
          </a:xfrm>
          <a:prstGeom prst="ellipse">
            <a:avLst/>
          </a:prstGeom>
          <a:ln w="15875">
            <a:solidFill>
              <a:srgbClr val="CFE6E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91088" y="5687568"/>
            <a:ext cx="512064" cy="512064"/>
          </a:xfrm>
          <a:prstGeom prst="ellipse">
            <a:avLst/>
          </a:prstGeom>
          <a:ln w="15875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25328" y="5321808"/>
            <a:ext cx="1243584" cy="1243584"/>
          </a:xfrm>
          <a:prstGeom prst="ellipse">
            <a:avLst/>
          </a:prstGeom>
          <a:ln w="15875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4956048"/>
            <a:ext cx="1975104" cy="1975104"/>
          </a:xfrm>
          <a:prstGeom prst="ellipse">
            <a:avLst/>
          </a:prstGeom>
          <a:ln w="15875">
            <a:solidFill>
              <a:srgbClr val="1C7293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93808" y="4590288"/>
            <a:ext cx="2706624" cy="2706624"/>
          </a:xfrm>
          <a:prstGeom prst="ellipse">
            <a:avLst/>
          </a:prstGeom>
          <a:ln w="15875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in four phases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2311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23113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sheltered, suitable site; cast the environment; rig the sphere; prepare the software and isolate the channel.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2369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323697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sphere on-axis, map the beam with multiple passes, and confirm the result meets a quality threshold.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420624" cy="420624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4281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424281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calibration, hold settings constant, log raw data, and monitor quality throughout the survey.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420624" cy="420624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2486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20440" y="524865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problems trace back to beam position, sea state, transducer condition, or interference — diagnose before repeating.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2026-09-23T14:01:11Z</dcterms:created>
  <dcterms:modified xsi:type="dcterms:W3CDTF">2026-09-23T14:01:11Z</dcterms:modified>
</cp:coreProperties>
</file>